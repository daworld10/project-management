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2418" autoAdjust="0"/>
  </p:normalViewPr>
  <p:slideViewPr>
    <p:cSldViewPr snapToGrid="0">
      <p:cViewPr varScale="1">
        <p:scale>
          <a:sx n="43" d="100"/>
          <a:sy n="43" d="100"/>
        </p:scale>
        <p:origin x="222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BC7618-E630-46A4-81C8-95DF51307047}" type="doc">
      <dgm:prSet loTypeId="urn:microsoft.com/office/officeart/2005/8/layout/default" loCatId="list" qsTypeId="urn:microsoft.com/office/officeart/2005/8/quickstyle/simple4" qsCatId="simple" csTypeId="urn:microsoft.com/office/officeart/2005/8/colors/accent0_3" csCatId="mainScheme" phldr="1"/>
      <dgm:spPr/>
      <dgm:t>
        <a:bodyPr/>
        <a:lstStyle/>
        <a:p>
          <a:endParaRPr lang="en-US"/>
        </a:p>
      </dgm:t>
    </dgm:pt>
    <dgm:pt modelId="{8C97577D-7C4A-41E8-91E0-42190764561D}">
      <dgm:prSet/>
      <dgm:spPr/>
      <dgm:t>
        <a:bodyPr/>
        <a:lstStyle/>
        <a:p>
          <a:pPr>
            <a:lnSpc>
              <a:spcPct val="100000"/>
            </a:lnSpc>
          </a:pPr>
          <a:r>
            <a:rPr lang="en-US" dirty="0"/>
            <a:t>The Problem: Organizations face a false binary choice between Waterfall structure and Agile flexibility.</a:t>
          </a:r>
        </a:p>
      </dgm:t>
    </dgm:pt>
    <dgm:pt modelId="{D74343C9-FD77-4CD5-986E-C2CBB624004C}" type="parTrans" cxnId="{DD36004E-6D83-463A-A40C-E2F7006C0900}">
      <dgm:prSet/>
      <dgm:spPr/>
      <dgm:t>
        <a:bodyPr/>
        <a:lstStyle/>
        <a:p>
          <a:endParaRPr lang="en-US"/>
        </a:p>
      </dgm:t>
    </dgm:pt>
    <dgm:pt modelId="{8D666F74-44DB-4003-B045-FCABB91EA10D}" type="sibTrans" cxnId="{DD36004E-6D83-463A-A40C-E2F7006C0900}">
      <dgm:prSet/>
      <dgm:spPr/>
      <dgm:t>
        <a:bodyPr/>
        <a:lstStyle/>
        <a:p>
          <a:pPr>
            <a:lnSpc>
              <a:spcPct val="100000"/>
            </a:lnSpc>
          </a:pPr>
          <a:endParaRPr lang="en-US"/>
        </a:p>
      </dgm:t>
    </dgm:pt>
    <dgm:pt modelId="{CF1AB70E-CBBB-4036-B5CF-023DDB05BBD5}">
      <dgm:prSet/>
      <dgm:spPr/>
      <dgm:t>
        <a:bodyPr/>
        <a:lstStyle/>
        <a:p>
          <a:pPr>
            <a:lnSpc>
              <a:spcPct val="100000"/>
            </a:lnSpc>
          </a:pPr>
          <a:r>
            <a:rPr lang="en-US"/>
            <a:t>Data Projects Are Different: They require both upfront clarity (data schemas, analytical methods) and adaptive problem-solving (unexpected patterns, emerging insights).\</a:t>
          </a:r>
        </a:p>
      </dgm:t>
    </dgm:pt>
    <dgm:pt modelId="{B5209F09-0A57-42BF-82C5-AFC8B80CAC91}" type="parTrans" cxnId="{4702A55A-F35B-4AF8-977B-42C00001DA4B}">
      <dgm:prSet/>
      <dgm:spPr/>
      <dgm:t>
        <a:bodyPr/>
        <a:lstStyle/>
        <a:p>
          <a:endParaRPr lang="en-US"/>
        </a:p>
      </dgm:t>
    </dgm:pt>
    <dgm:pt modelId="{8E265B0B-BE5F-418A-8C11-F8A322B6DEE8}" type="sibTrans" cxnId="{4702A55A-F35B-4AF8-977B-42C00001DA4B}">
      <dgm:prSet/>
      <dgm:spPr/>
      <dgm:t>
        <a:bodyPr/>
        <a:lstStyle/>
        <a:p>
          <a:pPr>
            <a:lnSpc>
              <a:spcPct val="100000"/>
            </a:lnSpc>
          </a:pPr>
          <a:endParaRPr lang="en-US"/>
        </a:p>
      </dgm:t>
    </dgm:pt>
    <dgm:pt modelId="{880ED1A1-945C-483A-8CDF-59D9936B01BB}">
      <dgm:prSet/>
      <dgm:spPr/>
      <dgm:t>
        <a:bodyPr/>
        <a:lstStyle/>
        <a:p>
          <a:pPr>
            <a:lnSpc>
              <a:spcPct val="100000"/>
            </a:lnSpc>
          </a:pPr>
          <a:r>
            <a:rPr lang="en-US"/>
            <a:t>Real Example: Credit score analysis project with 100,000 observations across 28 variables.</a:t>
          </a:r>
        </a:p>
      </dgm:t>
    </dgm:pt>
    <dgm:pt modelId="{8816735D-FFDA-43B2-8651-30B8B228BBAA}" type="parTrans" cxnId="{BC823469-E1AD-449F-80BF-35F28A7AF6FD}">
      <dgm:prSet/>
      <dgm:spPr/>
      <dgm:t>
        <a:bodyPr/>
        <a:lstStyle/>
        <a:p>
          <a:endParaRPr lang="en-US"/>
        </a:p>
      </dgm:t>
    </dgm:pt>
    <dgm:pt modelId="{5BAF7C8B-781D-44D8-8A29-EC0636D655A3}" type="sibTrans" cxnId="{BC823469-E1AD-449F-80BF-35F28A7AF6FD}">
      <dgm:prSet/>
      <dgm:spPr/>
      <dgm:t>
        <a:bodyPr/>
        <a:lstStyle/>
        <a:p>
          <a:pPr>
            <a:lnSpc>
              <a:spcPct val="100000"/>
            </a:lnSpc>
          </a:pPr>
          <a:endParaRPr lang="en-US"/>
        </a:p>
      </dgm:t>
    </dgm:pt>
    <dgm:pt modelId="{A2720418-761A-431B-90E7-B2342070F054}">
      <dgm:prSet/>
      <dgm:spPr/>
      <dgm:t>
        <a:bodyPr/>
        <a:lstStyle/>
        <a:p>
          <a:pPr>
            <a:lnSpc>
              <a:spcPct val="100000"/>
            </a:lnSpc>
          </a:pPr>
          <a:r>
            <a:rPr lang="en-US"/>
            <a:t>Key Tension: Delivering incremental insights while maintaining documentation and reproducibility</a:t>
          </a:r>
        </a:p>
      </dgm:t>
    </dgm:pt>
    <dgm:pt modelId="{857ABBA6-5B53-4AE6-BF3A-9A2E7AECAF45}" type="parTrans" cxnId="{A4DEC424-E383-4BF9-8E67-7A36778069BF}">
      <dgm:prSet/>
      <dgm:spPr/>
      <dgm:t>
        <a:bodyPr/>
        <a:lstStyle/>
        <a:p>
          <a:endParaRPr lang="en-US"/>
        </a:p>
      </dgm:t>
    </dgm:pt>
    <dgm:pt modelId="{68C7B342-DC43-4C17-AE5F-56627F3ED703}" type="sibTrans" cxnId="{A4DEC424-E383-4BF9-8E67-7A36778069BF}">
      <dgm:prSet/>
      <dgm:spPr/>
      <dgm:t>
        <a:bodyPr/>
        <a:lstStyle/>
        <a:p>
          <a:endParaRPr lang="en-US"/>
        </a:p>
      </dgm:t>
    </dgm:pt>
    <dgm:pt modelId="{A935FDDD-7CF6-403D-99DA-BF7C7277ACDF}" type="pres">
      <dgm:prSet presAssocID="{AFBC7618-E630-46A4-81C8-95DF51307047}" presName="diagram" presStyleCnt="0">
        <dgm:presLayoutVars>
          <dgm:dir/>
          <dgm:resizeHandles val="exact"/>
        </dgm:presLayoutVars>
      </dgm:prSet>
      <dgm:spPr/>
    </dgm:pt>
    <dgm:pt modelId="{E89544B2-CD50-4127-BA17-DF3190399D2E}" type="pres">
      <dgm:prSet presAssocID="{8C97577D-7C4A-41E8-91E0-42190764561D}" presName="node" presStyleLbl="node1" presStyleIdx="0" presStyleCnt="4">
        <dgm:presLayoutVars>
          <dgm:bulletEnabled val="1"/>
        </dgm:presLayoutVars>
      </dgm:prSet>
      <dgm:spPr/>
    </dgm:pt>
    <dgm:pt modelId="{58787B97-E60B-49BD-A9B5-BA2EB8722617}" type="pres">
      <dgm:prSet presAssocID="{8D666F74-44DB-4003-B045-FCABB91EA10D}" presName="sibTrans" presStyleCnt="0"/>
      <dgm:spPr/>
    </dgm:pt>
    <dgm:pt modelId="{2E32FABC-F49A-46C6-86CE-77DDA1DE3675}" type="pres">
      <dgm:prSet presAssocID="{CF1AB70E-CBBB-4036-B5CF-023DDB05BBD5}" presName="node" presStyleLbl="node1" presStyleIdx="1" presStyleCnt="4">
        <dgm:presLayoutVars>
          <dgm:bulletEnabled val="1"/>
        </dgm:presLayoutVars>
      </dgm:prSet>
      <dgm:spPr/>
    </dgm:pt>
    <dgm:pt modelId="{2D9F2F9A-5D81-45E0-B100-9426F4A5AAEF}" type="pres">
      <dgm:prSet presAssocID="{8E265B0B-BE5F-418A-8C11-F8A322B6DEE8}" presName="sibTrans" presStyleCnt="0"/>
      <dgm:spPr/>
    </dgm:pt>
    <dgm:pt modelId="{2C37D74E-791D-49D8-A68D-6E5441D508CC}" type="pres">
      <dgm:prSet presAssocID="{880ED1A1-945C-483A-8CDF-59D9936B01BB}" presName="node" presStyleLbl="node1" presStyleIdx="2" presStyleCnt="4">
        <dgm:presLayoutVars>
          <dgm:bulletEnabled val="1"/>
        </dgm:presLayoutVars>
      </dgm:prSet>
      <dgm:spPr/>
    </dgm:pt>
    <dgm:pt modelId="{D9058B31-C94E-4791-B0E5-9662CAB70F2D}" type="pres">
      <dgm:prSet presAssocID="{5BAF7C8B-781D-44D8-8A29-EC0636D655A3}" presName="sibTrans" presStyleCnt="0"/>
      <dgm:spPr/>
    </dgm:pt>
    <dgm:pt modelId="{4743D43D-5952-49AB-AC59-7A47F121CCCF}" type="pres">
      <dgm:prSet presAssocID="{A2720418-761A-431B-90E7-B2342070F054}" presName="node" presStyleLbl="node1" presStyleIdx="3" presStyleCnt="4">
        <dgm:presLayoutVars>
          <dgm:bulletEnabled val="1"/>
        </dgm:presLayoutVars>
      </dgm:prSet>
      <dgm:spPr/>
    </dgm:pt>
  </dgm:ptLst>
  <dgm:cxnLst>
    <dgm:cxn modelId="{11A43111-7C7D-4D46-99D2-514658765B8E}" type="presOf" srcId="{AFBC7618-E630-46A4-81C8-95DF51307047}" destId="{A935FDDD-7CF6-403D-99DA-BF7C7277ACDF}" srcOrd="0" destOrd="0" presId="urn:microsoft.com/office/officeart/2005/8/layout/default"/>
    <dgm:cxn modelId="{A4DEC424-E383-4BF9-8E67-7A36778069BF}" srcId="{AFBC7618-E630-46A4-81C8-95DF51307047}" destId="{A2720418-761A-431B-90E7-B2342070F054}" srcOrd="3" destOrd="0" parTransId="{857ABBA6-5B53-4AE6-BF3A-9A2E7AECAF45}" sibTransId="{68C7B342-DC43-4C17-AE5F-56627F3ED703}"/>
    <dgm:cxn modelId="{9EA62B35-036C-45B8-B1D4-B29A45A4AA2F}" type="presOf" srcId="{8C97577D-7C4A-41E8-91E0-42190764561D}" destId="{E89544B2-CD50-4127-BA17-DF3190399D2E}" srcOrd="0" destOrd="0" presId="urn:microsoft.com/office/officeart/2005/8/layout/default"/>
    <dgm:cxn modelId="{BC823469-E1AD-449F-80BF-35F28A7AF6FD}" srcId="{AFBC7618-E630-46A4-81C8-95DF51307047}" destId="{880ED1A1-945C-483A-8CDF-59D9936B01BB}" srcOrd="2" destOrd="0" parTransId="{8816735D-FFDA-43B2-8651-30B8B228BBAA}" sibTransId="{5BAF7C8B-781D-44D8-8A29-EC0636D655A3}"/>
    <dgm:cxn modelId="{1FBD7C6A-5EDA-4A8B-A175-593F5CD332F4}" type="presOf" srcId="{A2720418-761A-431B-90E7-B2342070F054}" destId="{4743D43D-5952-49AB-AC59-7A47F121CCCF}" srcOrd="0" destOrd="0" presId="urn:microsoft.com/office/officeart/2005/8/layout/default"/>
    <dgm:cxn modelId="{DD36004E-6D83-463A-A40C-E2F7006C0900}" srcId="{AFBC7618-E630-46A4-81C8-95DF51307047}" destId="{8C97577D-7C4A-41E8-91E0-42190764561D}" srcOrd="0" destOrd="0" parTransId="{D74343C9-FD77-4CD5-986E-C2CBB624004C}" sibTransId="{8D666F74-44DB-4003-B045-FCABB91EA10D}"/>
    <dgm:cxn modelId="{4702A55A-F35B-4AF8-977B-42C00001DA4B}" srcId="{AFBC7618-E630-46A4-81C8-95DF51307047}" destId="{CF1AB70E-CBBB-4036-B5CF-023DDB05BBD5}" srcOrd="1" destOrd="0" parTransId="{B5209F09-0A57-42BF-82C5-AFC8B80CAC91}" sibTransId="{8E265B0B-BE5F-418A-8C11-F8A322B6DEE8}"/>
    <dgm:cxn modelId="{5D44187F-3F51-4F01-8177-8498DE11EF78}" type="presOf" srcId="{CF1AB70E-CBBB-4036-B5CF-023DDB05BBD5}" destId="{2E32FABC-F49A-46C6-86CE-77DDA1DE3675}" srcOrd="0" destOrd="0" presId="urn:microsoft.com/office/officeart/2005/8/layout/default"/>
    <dgm:cxn modelId="{902677CB-1E1B-4CC9-A13C-91858865DB41}" type="presOf" srcId="{880ED1A1-945C-483A-8CDF-59D9936B01BB}" destId="{2C37D74E-791D-49D8-A68D-6E5441D508CC}" srcOrd="0" destOrd="0" presId="urn:microsoft.com/office/officeart/2005/8/layout/default"/>
    <dgm:cxn modelId="{0B6C2EB8-7DDF-48A1-9723-386CEAFE28B7}" type="presParOf" srcId="{A935FDDD-7CF6-403D-99DA-BF7C7277ACDF}" destId="{E89544B2-CD50-4127-BA17-DF3190399D2E}" srcOrd="0" destOrd="0" presId="urn:microsoft.com/office/officeart/2005/8/layout/default"/>
    <dgm:cxn modelId="{70881055-6D7A-44AB-B955-B4174F62A33D}" type="presParOf" srcId="{A935FDDD-7CF6-403D-99DA-BF7C7277ACDF}" destId="{58787B97-E60B-49BD-A9B5-BA2EB8722617}" srcOrd="1" destOrd="0" presId="urn:microsoft.com/office/officeart/2005/8/layout/default"/>
    <dgm:cxn modelId="{DF951A70-6A58-41F1-B147-3585749A4B64}" type="presParOf" srcId="{A935FDDD-7CF6-403D-99DA-BF7C7277ACDF}" destId="{2E32FABC-F49A-46C6-86CE-77DDA1DE3675}" srcOrd="2" destOrd="0" presId="urn:microsoft.com/office/officeart/2005/8/layout/default"/>
    <dgm:cxn modelId="{30B531FD-CC12-4C4A-A24A-DD997193E15E}" type="presParOf" srcId="{A935FDDD-7CF6-403D-99DA-BF7C7277ACDF}" destId="{2D9F2F9A-5D81-45E0-B100-9426F4A5AAEF}" srcOrd="3" destOrd="0" presId="urn:microsoft.com/office/officeart/2005/8/layout/default"/>
    <dgm:cxn modelId="{830DE86E-5EE4-4EA5-A8BA-F69304933001}" type="presParOf" srcId="{A935FDDD-7CF6-403D-99DA-BF7C7277ACDF}" destId="{2C37D74E-791D-49D8-A68D-6E5441D508CC}" srcOrd="4" destOrd="0" presId="urn:microsoft.com/office/officeart/2005/8/layout/default"/>
    <dgm:cxn modelId="{183CFDE2-AEE9-4E81-B1FF-5863380B4A02}" type="presParOf" srcId="{A935FDDD-7CF6-403D-99DA-BF7C7277ACDF}" destId="{D9058B31-C94E-4791-B0E5-9662CAB70F2D}" srcOrd="5" destOrd="0" presId="urn:microsoft.com/office/officeart/2005/8/layout/default"/>
    <dgm:cxn modelId="{8D8D5243-282A-48BD-838C-80FE801DFB3D}" type="presParOf" srcId="{A935FDDD-7CF6-403D-99DA-BF7C7277ACDF}" destId="{4743D43D-5952-49AB-AC59-7A47F121CCCF}"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E589A7C-6F20-4F91-87BC-8D9EE4589F72}"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4B909B0B-E1D8-4881-A14A-2C30B5622268}">
      <dgm:prSet/>
      <dgm:spPr/>
      <dgm:t>
        <a:bodyPr/>
        <a:lstStyle/>
        <a:p>
          <a:r>
            <a:rPr lang="en-US" dirty="0"/>
            <a:t>"Optimal project management for data analysis initiatives requires thoughtful integration of Waterfall's structural discipline and </a:t>
          </a:r>
          <a:r>
            <a:rPr lang="en-US" dirty="0" err="1"/>
            <a:t>Agile's</a:t>
          </a:r>
          <a:r>
            <a:rPr lang="en-US" dirty="0"/>
            <a:t> adaptive flexibility, rather than exclusive commitment to either methodology.“</a:t>
          </a:r>
        </a:p>
      </dgm:t>
    </dgm:pt>
    <dgm:pt modelId="{E6B16845-D0BF-4A2E-B7E0-C7AD68F25AF4}" type="parTrans" cxnId="{835A393D-8C39-433C-84FB-1E3B87078DDB}">
      <dgm:prSet/>
      <dgm:spPr/>
      <dgm:t>
        <a:bodyPr/>
        <a:lstStyle/>
        <a:p>
          <a:endParaRPr lang="en-US"/>
        </a:p>
      </dgm:t>
    </dgm:pt>
    <dgm:pt modelId="{E4F2E081-5093-4351-AC1C-7B936F6A2B88}" type="sibTrans" cxnId="{835A393D-8C39-433C-84FB-1E3B87078DDB}">
      <dgm:prSet/>
      <dgm:spPr/>
      <dgm:t>
        <a:bodyPr/>
        <a:lstStyle/>
        <a:p>
          <a:endParaRPr lang="en-US"/>
        </a:p>
      </dgm:t>
    </dgm:pt>
    <dgm:pt modelId="{B4C6D294-F664-4A6E-91F5-E5B5FE48B8B8}">
      <dgm:prSet/>
      <dgm:spPr/>
      <dgm:t>
        <a:bodyPr/>
        <a:lstStyle/>
        <a:p>
          <a:r>
            <a:rPr lang="en-IN" dirty="0"/>
            <a:t>Three Key Claims:</a:t>
          </a:r>
          <a:endParaRPr lang="en-US" dirty="0"/>
        </a:p>
      </dgm:t>
    </dgm:pt>
    <dgm:pt modelId="{2B37725D-A23D-4E07-B72D-399A60998C2C}" type="parTrans" cxnId="{5CF3CA6F-F1E2-481A-84CF-29C5899F0411}">
      <dgm:prSet/>
      <dgm:spPr/>
      <dgm:t>
        <a:bodyPr/>
        <a:lstStyle/>
        <a:p>
          <a:endParaRPr lang="en-US"/>
        </a:p>
      </dgm:t>
    </dgm:pt>
    <dgm:pt modelId="{0FD06D9E-4132-49E7-82EA-F9F5148CE68D}" type="sibTrans" cxnId="{5CF3CA6F-F1E2-481A-84CF-29C5899F0411}">
      <dgm:prSet/>
      <dgm:spPr/>
      <dgm:t>
        <a:bodyPr/>
        <a:lstStyle/>
        <a:p>
          <a:endParaRPr lang="en-US"/>
        </a:p>
      </dgm:t>
    </dgm:pt>
    <dgm:pt modelId="{1676AF1C-BFFE-46BD-B395-08EC45962470}">
      <dgm:prSet/>
      <dgm:spPr/>
      <dgm:t>
        <a:bodyPr/>
        <a:lstStyle/>
        <a:p>
          <a:r>
            <a:rPr lang="en-IN" dirty="0"/>
            <a:t>Waterfall Provides Essential Architecture</a:t>
          </a:r>
          <a:endParaRPr lang="en-US" dirty="0"/>
        </a:p>
      </dgm:t>
    </dgm:pt>
    <dgm:pt modelId="{93F27B1A-196E-4A97-AEE6-90D40FABE355}" type="parTrans" cxnId="{EA385FB9-70A7-4E6A-8A70-31405C6EC0F7}">
      <dgm:prSet/>
      <dgm:spPr/>
      <dgm:t>
        <a:bodyPr/>
        <a:lstStyle/>
        <a:p>
          <a:endParaRPr lang="en-US"/>
        </a:p>
      </dgm:t>
    </dgm:pt>
    <dgm:pt modelId="{BF75CE0B-C5D7-4EE7-89BF-8B6384BFD662}" type="sibTrans" cxnId="{EA385FB9-70A7-4E6A-8A70-31405C6EC0F7}">
      <dgm:prSet/>
      <dgm:spPr/>
      <dgm:t>
        <a:bodyPr/>
        <a:lstStyle/>
        <a:p>
          <a:endParaRPr lang="en-US"/>
        </a:p>
      </dgm:t>
    </dgm:pt>
    <dgm:pt modelId="{3D3D0566-D0A0-4727-823D-605E8E11D3B0}">
      <dgm:prSet custT="1"/>
      <dgm:spPr/>
      <dgm:t>
        <a:bodyPr/>
        <a:lstStyle/>
        <a:p>
          <a:r>
            <a:rPr lang="en-IN" sz="1000" dirty="0"/>
            <a:t>Clear requirements and phase gates prevent scope drift</a:t>
          </a:r>
          <a:endParaRPr lang="en-US" sz="1000" dirty="0"/>
        </a:p>
      </dgm:t>
    </dgm:pt>
    <dgm:pt modelId="{328DDF34-CB15-4A69-A0CE-4AA6DE99BE59}" type="parTrans" cxnId="{34C696EF-C43A-4184-9B1A-170B3F150BD1}">
      <dgm:prSet/>
      <dgm:spPr/>
      <dgm:t>
        <a:bodyPr/>
        <a:lstStyle/>
        <a:p>
          <a:endParaRPr lang="en-US"/>
        </a:p>
      </dgm:t>
    </dgm:pt>
    <dgm:pt modelId="{09596671-F650-42F7-90E0-8ECF5AA9DF20}" type="sibTrans" cxnId="{34C696EF-C43A-4184-9B1A-170B3F150BD1}">
      <dgm:prSet/>
      <dgm:spPr/>
      <dgm:t>
        <a:bodyPr/>
        <a:lstStyle/>
        <a:p>
          <a:endParaRPr lang="en-US"/>
        </a:p>
      </dgm:t>
    </dgm:pt>
    <dgm:pt modelId="{0F4B536E-89D0-4267-A1E4-180A31D2D3E4}">
      <dgm:prSet custT="1"/>
      <dgm:spPr/>
      <dgm:t>
        <a:bodyPr/>
        <a:lstStyle/>
        <a:p>
          <a:r>
            <a:rPr lang="en-IN" sz="1000" dirty="0"/>
            <a:t>Documentation discipline enables knowledge transfer</a:t>
          </a:r>
          <a:endParaRPr lang="en-US" sz="1000" dirty="0"/>
        </a:p>
      </dgm:t>
    </dgm:pt>
    <dgm:pt modelId="{EA2956E1-9DB8-4EFD-B2CE-5F36E1A3DF8A}" type="parTrans" cxnId="{053AF674-1E34-4B69-865C-597DFFC7CDF1}">
      <dgm:prSet/>
      <dgm:spPr/>
      <dgm:t>
        <a:bodyPr/>
        <a:lstStyle/>
        <a:p>
          <a:endParaRPr lang="en-US"/>
        </a:p>
      </dgm:t>
    </dgm:pt>
    <dgm:pt modelId="{2ED43DA4-63E8-4AA1-B4C8-4DF30CE228C6}" type="sibTrans" cxnId="{053AF674-1E34-4B69-865C-597DFFC7CDF1}">
      <dgm:prSet/>
      <dgm:spPr/>
      <dgm:t>
        <a:bodyPr/>
        <a:lstStyle/>
        <a:p>
          <a:endParaRPr lang="en-US"/>
        </a:p>
      </dgm:t>
    </dgm:pt>
    <dgm:pt modelId="{CF914343-2842-4423-8EBD-90C0832EE013}">
      <dgm:prSet custT="1"/>
      <dgm:spPr/>
      <dgm:t>
        <a:bodyPr/>
        <a:lstStyle/>
        <a:p>
          <a:r>
            <a:rPr lang="en-IN" sz="1000" dirty="0"/>
            <a:t>Quality checkpoints reduce downstream problems</a:t>
          </a:r>
          <a:endParaRPr lang="en-US" sz="1000" dirty="0"/>
        </a:p>
      </dgm:t>
    </dgm:pt>
    <dgm:pt modelId="{623A70B1-BA8B-4252-A68A-F684D3FDC8F0}" type="parTrans" cxnId="{16A1BB43-9F47-499A-A26D-FF6DF84CB673}">
      <dgm:prSet/>
      <dgm:spPr/>
      <dgm:t>
        <a:bodyPr/>
        <a:lstStyle/>
        <a:p>
          <a:endParaRPr lang="en-US"/>
        </a:p>
      </dgm:t>
    </dgm:pt>
    <dgm:pt modelId="{B8A93C4E-550C-465A-B885-878893A04FD4}" type="sibTrans" cxnId="{16A1BB43-9F47-499A-A26D-FF6DF84CB673}">
      <dgm:prSet/>
      <dgm:spPr/>
      <dgm:t>
        <a:bodyPr/>
        <a:lstStyle/>
        <a:p>
          <a:endParaRPr lang="en-US"/>
        </a:p>
      </dgm:t>
    </dgm:pt>
    <dgm:pt modelId="{A53EA747-09CC-4E33-8959-40FEE1D97D9A}">
      <dgm:prSet/>
      <dgm:spPr/>
      <dgm:t>
        <a:bodyPr/>
        <a:lstStyle/>
        <a:p>
          <a:r>
            <a:rPr lang="en-IN" dirty="0"/>
            <a:t>Agile Enables Continuous Learning</a:t>
          </a:r>
          <a:endParaRPr lang="en-US" dirty="0"/>
        </a:p>
      </dgm:t>
    </dgm:pt>
    <dgm:pt modelId="{432A64D4-9637-451C-A9F9-A98F804A5C3B}" type="parTrans" cxnId="{64371C61-110E-4C47-B36B-2C761E8111DB}">
      <dgm:prSet/>
      <dgm:spPr/>
      <dgm:t>
        <a:bodyPr/>
        <a:lstStyle/>
        <a:p>
          <a:endParaRPr lang="en-US"/>
        </a:p>
      </dgm:t>
    </dgm:pt>
    <dgm:pt modelId="{53BF1F6E-8592-4241-A0D1-5A97C9E3657F}" type="sibTrans" cxnId="{64371C61-110E-4C47-B36B-2C761E8111DB}">
      <dgm:prSet/>
      <dgm:spPr/>
      <dgm:t>
        <a:bodyPr/>
        <a:lstStyle/>
        <a:p>
          <a:endParaRPr lang="en-US"/>
        </a:p>
      </dgm:t>
    </dgm:pt>
    <dgm:pt modelId="{1DEB6548-0AD8-40AF-A9CD-7BAFA6F95DF8}">
      <dgm:prSet custT="1"/>
      <dgm:spPr/>
      <dgm:t>
        <a:bodyPr/>
        <a:lstStyle/>
        <a:p>
          <a:r>
            <a:rPr lang="en-IN" sz="1000"/>
            <a:t>2-week sprint cycles catch issues early</a:t>
          </a:r>
          <a:endParaRPr lang="en-US" sz="1000"/>
        </a:p>
      </dgm:t>
    </dgm:pt>
    <dgm:pt modelId="{82A92D55-166D-4538-80D6-E31A9958B7D6}" type="parTrans" cxnId="{3F677851-48F8-484D-8FC5-113363ED9DE0}">
      <dgm:prSet/>
      <dgm:spPr/>
      <dgm:t>
        <a:bodyPr/>
        <a:lstStyle/>
        <a:p>
          <a:endParaRPr lang="en-US"/>
        </a:p>
      </dgm:t>
    </dgm:pt>
    <dgm:pt modelId="{989ACD4F-072F-4D7B-A79B-37F785B767F4}" type="sibTrans" cxnId="{3F677851-48F8-484D-8FC5-113363ED9DE0}">
      <dgm:prSet/>
      <dgm:spPr/>
      <dgm:t>
        <a:bodyPr/>
        <a:lstStyle/>
        <a:p>
          <a:endParaRPr lang="en-US"/>
        </a:p>
      </dgm:t>
    </dgm:pt>
    <dgm:pt modelId="{FDBE1BED-DF7C-4771-8BE8-D4FE6A5DDD36}">
      <dgm:prSet custT="1"/>
      <dgm:spPr/>
      <dgm:t>
        <a:bodyPr/>
        <a:lstStyle/>
        <a:p>
          <a:r>
            <a:rPr lang="en-IN" sz="1000" dirty="0"/>
            <a:t>Sprint reviews maintain stakeholder alignment</a:t>
          </a:r>
          <a:endParaRPr lang="en-US" sz="1000" dirty="0"/>
        </a:p>
      </dgm:t>
    </dgm:pt>
    <dgm:pt modelId="{DC58385E-0BF6-4579-BEF0-E5DA224D1DAB}" type="parTrans" cxnId="{D884F0DC-AB9B-40D7-9EDD-66F52BB95128}">
      <dgm:prSet/>
      <dgm:spPr/>
      <dgm:t>
        <a:bodyPr/>
        <a:lstStyle/>
        <a:p>
          <a:endParaRPr lang="en-US"/>
        </a:p>
      </dgm:t>
    </dgm:pt>
    <dgm:pt modelId="{D4AC0B7D-305D-4A03-9A5D-4597EB7F5415}" type="sibTrans" cxnId="{D884F0DC-AB9B-40D7-9EDD-66F52BB95128}">
      <dgm:prSet/>
      <dgm:spPr/>
      <dgm:t>
        <a:bodyPr/>
        <a:lstStyle/>
        <a:p>
          <a:endParaRPr lang="en-US"/>
        </a:p>
      </dgm:t>
    </dgm:pt>
    <dgm:pt modelId="{D3496F0E-967A-4B3D-B788-6CB248866B60}">
      <dgm:prSet custT="1"/>
      <dgm:spPr/>
      <dgm:t>
        <a:bodyPr/>
        <a:lstStyle/>
        <a:p>
          <a:r>
            <a:rPr lang="en-IN" sz="1000" dirty="0"/>
            <a:t>Incremental value delivery sustains engagement</a:t>
          </a:r>
          <a:endParaRPr lang="en-US" sz="1000" dirty="0"/>
        </a:p>
      </dgm:t>
    </dgm:pt>
    <dgm:pt modelId="{EBEFFE75-FDB5-403A-9857-1C873D60A72B}" type="parTrans" cxnId="{8E588694-B7C4-42A6-B1D9-AF2155020357}">
      <dgm:prSet/>
      <dgm:spPr/>
      <dgm:t>
        <a:bodyPr/>
        <a:lstStyle/>
        <a:p>
          <a:endParaRPr lang="en-US"/>
        </a:p>
      </dgm:t>
    </dgm:pt>
    <dgm:pt modelId="{F133B1C6-5F79-40CD-98B6-A0EA708FAB08}" type="sibTrans" cxnId="{8E588694-B7C4-42A6-B1D9-AF2155020357}">
      <dgm:prSet/>
      <dgm:spPr/>
      <dgm:t>
        <a:bodyPr/>
        <a:lstStyle/>
        <a:p>
          <a:endParaRPr lang="en-US"/>
        </a:p>
      </dgm:t>
    </dgm:pt>
    <dgm:pt modelId="{37623D4B-7FE1-4F54-9878-6887D27559CB}">
      <dgm:prSet/>
      <dgm:spPr/>
      <dgm:t>
        <a:bodyPr/>
        <a:lstStyle/>
        <a:p>
          <a:r>
            <a:rPr lang="en-IN" dirty="0"/>
            <a:t>Integration Yields Superior Outcomes</a:t>
          </a:r>
          <a:endParaRPr lang="en-US" dirty="0"/>
        </a:p>
      </dgm:t>
    </dgm:pt>
    <dgm:pt modelId="{F31E0B55-75DC-45B1-93B6-8F9073C3AEE2}" type="parTrans" cxnId="{8BB33241-C00C-4655-A737-7EB83DF8BF95}">
      <dgm:prSet/>
      <dgm:spPr/>
      <dgm:t>
        <a:bodyPr/>
        <a:lstStyle/>
        <a:p>
          <a:endParaRPr lang="en-US"/>
        </a:p>
      </dgm:t>
    </dgm:pt>
    <dgm:pt modelId="{971BF0D4-5CC0-4D35-8752-875BAD374068}" type="sibTrans" cxnId="{8BB33241-C00C-4655-A737-7EB83DF8BF95}">
      <dgm:prSet/>
      <dgm:spPr/>
      <dgm:t>
        <a:bodyPr/>
        <a:lstStyle/>
        <a:p>
          <a:endParaRPr lang="en-US"/>
        </a:p>
      </dgm:t>
    </dgm:pt>
    <dgm:pt modelId="{7C896B6C-DF8B-44FA-8B65-FC75E234CC4B}">
      <dgm:prSet custT="1"/>
      <dgm:spPr/>
      <dgm:t>
        <a:bodyPr/>
        <a:lstStyle/>
        <a:p>
          <a:r>
            <a:rPr lang="en-IN" sz="1000" dirty="0"/>
            <a:t>Better project predictability (phase gates)</a:t>
          </a:r>
          <a:endParaRPr lang="en-US" sz="1000" dirty="0"/>
        </a:p>
      </dgm:t>
    </dgm:pt>
    <dgm:pt modelId="{788E4441-6111-4039-B630-CD906C2DD36D}" type="parTrans" cxnId="{6AEF9A40-0D9F-45A3-AA9D-B881A5D1A20B}">
      <dgm:prSet/>
      <dgm:spPr/>
      <dgm:t>
        <a:bodyPr/>
        <a:lstStyle/>
        <a:p>
          <a:endParaRPr lang="en-US"/>
        </a:p>
      </dgm:t>
    </dgm:pt>
    <dgm:pt modelId="{D5D208E9-B476-47AE-8851-3F631110609C}" type="sibTrans" cxnId="{6AEF9A40-0D9F-45A3-AA9D-B881A5D1A20B}">
      <dgm:prSet/>
      <dgm:spPr/>
      <dgm:t>
        <a:bodyPr/>
        <a:lstStyle/>
        <a:p>
          <a:endParaRPr lang="en-US"/>
        </a:p>
      </dgm:t>
    </dgm:pt>
    <dgm:pt modelId="{5D47A82C-42EF-49DD-B6CD-CE88370452FD}">
      <dgm:prSet custT="1"/>
      <dgm:spPr/>
      <dgm:t>
        <a:bodyPr/>
        <a:lstStyle/>
        <a:p>
          <a:r>
            <a:rPr lang="en-IN" sz="1000"/>
            <a:t>Better analytical rigor (continuous improvement)</a:t>
          </a:r>
          <a:endParaRPr lang="en-US" sz="1000"/>
        </a:p>
      </dgm:t>
    </dgm:pt>
    <dgm:pt modelId="{8B79DB95-CE13-4D03-B455-7F32C96ACF64}" type="parTrans" cxnId="{5A39FEF1-4534-4AE1-97C7-CCC1D8BFC690}">
      <dgm:prSet/>
      <dgm:spPr/>
      <dgm:t>
        <a:bodyPr/>
        <a:lstStyle/>
        <a:p>
          <a:endParaRPr lang="en-US"/>
        </a:p>
      </dgm:t>
    </dgm:pt>
    <dgm:pt modelId="{4AFF581E-A144-4764-AA24-4B17FBD9BCCA}" type="sibTrans" cxnId="{5A39FEF1-4534-4AE1-97C7-CCC1D8BFC690}">
      <dgm:prSet/>
      <dgm:spPr/>
      <dgm:t>
        <a:bodyPr/>
        <a:lstStyle/>
        <a:p>
          <a:endParaRPr lang="en-US"/>
        </a:p>
      </dgm:t>
    </dgm:pt>
    <dgm:pt modelId="{2AA910E2-0005-4AB2-94FE-9BC4EC341798}">
      <dgm:prSet custT="1"/>
      <dgm:spPr/>
      <dgm:t>
        <a:bodyPr/>
        <a:lstStyle/>
        <a:p>
          <a:r>
            <a:rPr lang="en-IN" sz="1000" dirty="0"/>
            <a:t>Better stakeholder satisfaction (regular feedback)</a:t>
          </a:r>
          <a:endParaRPr lang="en-US" sz="1000" dirty="0"/>
        </a:p>
      </dgm:t>
    </dgm:pt>
    <dgm:pt modelId="{25CAD01A-FA36-4031-9922-ECD8EF901D53}" type="parTrans" cxnId="{0028ABB7-9BC7-461E-9B9A-A8E44C0AB542}">
      <dgm:prSet/>
      <dgm:spPr/>
      <dgm:t>
        <a:bodyPr/>
        <a:lstStyle/>
        <a:p>
          <a:endParaRPr lang="en-US"/>
        </a:p>
      </dgm:t>
    </dgm:pt>
    <dgm:pt modelId="{9B33AE42-61A5-4DDF-98E9-0E6567AF284D}" type="sibTrans" cxnId="{0028ABB7-9BC7-461E-9B9A-A8E44C0AB542}">
      <dgm:prSet/>
      <dgm:spPr/>
      <dgm:t>
        <a:bodyPr/>
        <a:lstStyle/>
        <a:p>
          <a:endParaRPr lang="en-US"/>
        </a:p>
      </dgm:t>
    </dgm:pt>
    <dgm:pt modelId="{D30485BB-002F-4229-9F49-8D33BFEF95F9}" type="pres">
      <dgm:prSet presAssocID="{8E589A7C-6F20-4F91-87BC-8D9EE4589F72}" presName="linear" presStyleCnt="0">
        <dgm:presLayoutVars>
          <dgm:animLvl val="lvl"/>
          <dgm:resizeHandles val="exact"/>
        </dgm:presLayoutVars>
      </dgm:prSet>
      <dgm:spPr/>
    </dgm:pt>
    <dgm:pt modelId="{8A93030C-A5E1-4D32-A08C-7F6E2C7AE014}" type="pres">
      <dgm:prSet presAssocID="{4B909B0B-E1D8-4881-A14A-2C30B5622268}" presName="parentText" presStyleLbl="node1" presStyleIdx="0" presStyleCnt="5" custLinFactY="-52620" custLinFactNeighborX="156" custLinFactNeighborY="-100000">
        <dgm:presLayoutVars>
          <dgm:chMax val="0"/>
          <dgm:bulletEnabled val="1"/>
        </dgm:presLayoutVars>
      </dgm:prSet>
      <dgm:spPr/>
    </dgm:pt>
    <dgm:pt modelId="{A2D4ADC0-D9C0-4216-8253-E1EE97C91E06}" type="pres">
      <dgm:prSet presAssocID="{E4F2E081-5093-4351-AC1C-7B936F6A2B88}" presName="spacer" presStyleCnt="0"/>
      <dgm:spPr/>
    </dgm:pt>
    <dgm:pt modelId="{9B1ACBDF-1BCA-4987-B147-1B719C279329}" type="pres">
      <dgm:prSet presAssocID="{B4C6D294-F664-4A6E-91F5-E5B5FE48B8B8}" presName="parentText" presStyleLbl="node1" presStyleIdx="1" presStyleCnt="5" custLinFactY="-28243" custLinFactNeighborX="-330" custLinFactNeighborY="-100000">
        <dgm:presLayoutVars>
          <dgm:chMax val="0"/>
          <dgm:bulletEnabled val="1"/>
        </dgm:presLayoutVars>
      </dgm:prSet>
      <dgm:spPr/>
    </dgm:pt>
    <dgm:pt modelId="{1C078530-08AA-4FFF-9152-E57B31AF8731}" type="pres">
      <dgm:prSet presAssocID="{0FD06D9E-4132-49E7-82EA-F9F5148CE68D}" presName="spacer" presStyleCnt="0"/>
      <dgm:spPr/>
    </dgm:pt>
    <dgm:pt modelId="{1D7B4D92-755D-4101-A457-18013A850674}" type="pres">
      <dgm:prSet presAssocID="{1676AF1C-BFFE-46BD-B395-08EC45962470}" presName="parentText" presStyleLbl="node1" presStyleIdx="2" presStyleCnt="5" custLinFactNeighborX="-330" custLinFactNeighborY="-58945">
        <dgm:presLayoutVars>
          <dgm:chMax val="0"/>
          <dgm:bulletEnabled val="1"/>
        </dgm:presLayoutVars>
      </dgm:prSet>
      <dgm:spPr/>
    </dgm:pt>
    <dgm:pt modelId="{FBA74FA7-2F11-4F55-9E8D-DFE573B443DE}" type="pres">
      <dgm:prSet presAssocID="{1676AF1C-BFFE-46BD-B395-08EC45962470}" presName="childText" presStyleLbl="revTx" presStyleIdx="0" presStyleCnt="3" custLinFactNeighborX="-350" custLinFactNeighborY="-29820">
        <dgm:presLayoutVars>
          <dgm:bulletEnabled val="1"/>
        </dgm:presLayoutVars>
      </dgm:prSet>
      <dgm:spPr/>
    </dgm:pt>
    <dgm:pt modelId="{4BE68E27-ED28-4450-AC2F-62207D012561}" type="pres">
      <dgm:prSet presAssocID="{A53EA747-09CC-4E33-8959-40FEE1D97D9A}" presName="parentText" presStyleLbl="node1" presStyleIdx="3" presStyleCnt="5" custLinFactNeighborX="-330" custLinFactNeighborY="-20981">
        <dgm:presLayoutVars>
          <dgm:chMax val="0"/>
          <dgm:bulletEnabled val="1"/>
        </dgm:presLayoutVars>
      </dgm:prSet>
      <dgm:spPr/>
    </dgm:pt>
    <dgm:pt modelId="{064A72F0-419E-44B2-9875-4DD6946289FC}" type="pres">
      <dgm:prSet presAssocID="{A53EA747-09CC-4E33-8959-40FEE1D97D9A}" presName="childText" presStyleLbl="revTx" presStyleIdx="1" presStyleCnt="3" custLinFactNeighborX="-330" custLinFactNeighborY="-15961">
        <dgm:presLayoutVars>
          <dgm:bulletEnabled val="1"/>
        </dgm:presLayoutVars>
      </dgm:prSet>
      <dgm:spPr/>
    </dgm:pt>
    <dgm:pt modelId="{793ED9BC-AD6C-412C-A984-DE5DE57078F9}" type="pres">
      <dgm:prSet presAssocID="{37623D4B-7FE1-4F54-9878-6887D27559CB}" presName="parentText" presStyleLbl="node1" presStyleIdx="4" presStyleCnt="5" custLinFactNeighborX="126" custLinFactNeighborY="-2909">
        <dgm:presLayoutVars>
          <dgm:chMax val="0"/>
          <dgm:bulletEnabled val="1"/>
        </dgm:presLayoutVars>
      </dgm:prSet>
      <dgm:spPr/>
    </dgm:pt>
    <dgm:pt modelId="{3E3713E4-1A80-4874-8591-0EBE658A14C7}" type="pres">
      <dgm:prSet presAssocID="{37623D4B-7FE1-4F54-9878-6887D27559CB}" presName="childText" presStyleLbl="revTx" presStyleIdx="2" presStyleCnt="3" custLinFactNeighborY="1932">
        <dgm:presLayoutVars>
          <dgm:bulletEnabled val="1"/>
        </dgm:presLayoutVars>
      </dgm:prSet>
      <dgm:spPr/>
    </dgm:pt>
  </dgm:ptLst>
  <dgm:cxnLst>
    <dgm:cxn modelId="{B6F6F205-56FD-4598-A282-FFE75C3B6612}" type="presOf" srcId="{0F4B536E-89D0-4267-A1E4-180A31D2D3E4}" destId="{FBA74FA7-2F11-4F55-9E8D-DFE573B443DE}" srcOrd="0" destOrd="1" presId="urn:microsoft.com/office/officeart/2005/8/layout/vList2"/>
    <dgm:cxn modelId="{649A5E12-7C6A-4E35-BE09-1E18C1BF8902}" type="presOf" srcId="{1DEB6548-0AD8-40AF-A9CD-7BAFA6F95DF8}" destId="{064A72F0-419E-44B2-9875-4DD6946289FC}" srcOrd="0" destOrd="0" presId="urn:microsoft.com/office/officeart/2005/8/layout/vList2"/>
    <dgm:cxn modelId="{396CBD27-E0F1-46A9-BC0C-D47F80C3D94A}" type="presOf" srcId="{A53EA747-09CC-4E33-8959-40FEE1D97D9A}" destId="{4BE68E27-ED28-4450-AC2F-62207D012561}" srcOrd="0" destOrd="0" presId="urn:microsoft.com/office/officeart/2005/8/layout/vList2"/>
    <dgm:cxn modelId="{102F8732-EAD5-4FF5-8907-25BCF0C5729A}" type="presOf" srcId="{37623D4B-7FE1-4F54-9878-6887D27559CB}" destId="{793ED9BC-AD6C-412C-A984-DE5DE57078F9}" srcOrd="0" destOrd="0" presId="urn:microsoft.com/office/officeart/2005/8/layout/vList2"/>
    <dgm:cxn modelId="{835A393D-8C39-433C-84FB-1E3B87078DDB}" srcId="{8E589A7C-6F20-4F91-87BC-8D9EE4589F72}" destId="{4B909B0B-E1D8-4881-A14A-2C30B5622268}" srcOrd="0" destOrd="0" parTransId="{E6B16845-D0BF-4A2E-B7E0-C7AD68F25AF4}" sibTransId="{E4F2E081-5093-4351-AC1C-7B936F6A2B88}"/>
    <dgm:cxn modelId="{6AEF9A40-0D9F-45A3-AA9D-B881A5D1A20B}" srcId="{37623D4B-7FE1-4F54-9878-6887D27559CB}" destId="{7C896B6C-DF8B-44FA-8B65-FC75E234CC4B}" srcOrd="0" destOrd="0" parTransId="{788E4441-6111-4039-B630-CD906C2DD36D}" sibTransId="{D5D208E9-B476-47AE-8851-3F631110609C}"/>
    <dgm:cxn modelId="{64371C61-110E-4C47-B36B-2C761E8111DB}" srcId="{8E589A7C-6F20-4F91-87BC-8D9EE4589F72}" destId="{A53EA747-09CC-4E33-8959-40FEE1D97D9A}" srcOrd="3" destOrd="0" parTransId="{432A64D4-9637-451C-A9F9-A98F804A5C3B}" sibTransId="{53BF1F6E-8592-4241-A0D1-5A97C9E3657F}"/>
    <dgm:cxn modelId="{8BB33241-C00C-4655-A737-7EB83DF8BF95}" srcId="{8E589A7C-6F20-4F91-87BC-8D9EE4589F72}" destId="{37623D4B-7FE1-4F54-9878-6887D27559CB}" srcOrd="4" destOrd="0" parTransId="{F31E0B55-75DC-45B1-93B6-8F9073C3AEE2}" sibTransId="{971BF0D4-5CC0-4D35-8752-875BAD374068}"/>
    <dgm:cxn modelId="{16A1BB43-9F47-499A-A26D-FF6DF84CB673}" srcId="{1676AF1C-BFFE-46BD-B395-08EC45962470}" destId="{CF914343-2842-4423-8EBD-90C0832EE013}" srcOrd="2" destOrd="0" parTransId="{623A70B1-BA8B-4252-A68A-F684D3FDC8F0}" sibTransId="{B8A93C4E-550C-465A-B885-878893A04FD4}"/>
    <dgm:cxn modelId="{4F763A66-EA9C-41EB-83AE-FC976B0946F6}" type="presOf" srcId="{B4C6D294-F664-4A6E-91F5-E5B5FE48B8B8}" destId="{9B1ACBDF-1BCA-4987-B147-1B719C279329}" srcOrd="0" destOrd="0" presId="urn:microsoft.com/office/officeart/2005/8/layout/vList2"/>
    <dgm:cxn modelId="{B9C79C69-7011-4EE5-A517-8F908AF00C1C}" type="presOf" srcId="{4B909B0B-E1D8-4881-A14A-2C30B5622268}" destId="{8A93030C-A5E1-4D32-A08C-7F6E2C7AE014}" srcOrd="0" destOrd="0" presId="urn:microsoft.com/office/officeart/2005/8/layout/vList2"/>
    <dgm:cxn modelId="{5CF3CA6F-F1E2-481A-84CF-29C5899F0411}" srcId="{8E589A7C-6F20-4F91-87BC-8D9EE4589F72}" destId="{B4C6D294-F664-4A6E-91F5-E5B5FE48B8B8}" srcOrd="1" destOrd="0" parTransId="{2B37725D-A23D-4E07-B72D-399A60998C2C}" sibTransId="{0FD06D9E-4132-49E7-82EA-F9F5148CE68D}"/>
    <dgm:cxn modelId="{3F677851-48F8-484D-8FC5-113363ED9DE0}" srcId="{A53EA747-09CC-4E33-8959-40FEE1D97D9A}" destId="{1DEB6548-0AD8-40AF-A9CD-7BAFA6F95DF8}" srcOrd="0" destOrd="0" parTransId="{82A92D55-166D-4538-80D6-E31A9958B7D6}" sibTransId="{989ACD4F-072F-4D7B-A79B-37F785B767F4}"/>
    <dgm:cxn modelId="{43788753-1683-4FD2-B608-AA3CF082D4A0}" type="presOf" srcId="{3D3D0566-D0A0-4727-823D-605E8E11D3B0}" destId="{FBA74FA7-2F11-4F55-9E8D-DFE573B443DE}" srcOrd="0" destOrd="0" presId="urn:microsoft.com/office/officeart/2005/8/layout/vList2"/>
    <dgm:cxn modelId="{053AF674-1E34-4B69-865C-597DFFC7CDF1}" srcId="{1676AF1C-BFFE-46BD-B395-08EC45962470}" destId="{0F4B536E-89D0-4267-A1E4-180A31D2D3E4}" srcOrd="1" destOrd="0" parTransId="{EA2956E1-9DB8-4EFD-B2CE-5F36E1A3DF8A}" sibTransId="{2ED43DA4-63E8-4AA1-B4C8-4DF30CE228C6}"/>
    <dgm:cxn modelId="{138F7259-034B-4F9B-B6AB-6186C111AE53}" type="presOf" srcId="{8E589A7C-6F20-4F91-87BC-8D9EE4589F72}" destId="{D30485BB-002F-4229-9F49-8D33BFEF95F9}" srcOrd="0" destOrd="0" presId="urn:microsoft.com/office/officeart/2005/8/layout/vList2"/>
    <dgm:cxn modelId="{8E588694-B7C4-42A6-B1D9-AF2155020357}" srcId="{A53EA747-09CC-4E33-8959-40FEE1D97D9A}" destId="{D3496F0E-967A-4B3D-B788-6CB248866B60}" srcOrd="2" destOrd="0" parTransId="{EBEFFE75-FDB5-403A-9857-1C873D60A72B}" sibTransId="{F133B1C6-5F79-40CD-98B6-A0EA708FAB08}"/>
    <dgm:cxn modelId="{49148994-6953-4BF6-B6AE-1BD77CBCC831}" type="presOf" srcId="{5D47A82C-42EF-49DD-B6CD-CE88370452FD}" destId="{3E3713E4-1A80-4874-8591-0EBE658A14C7}" srcOrd="0" destOrd="1" presId="urn:microsoft.com/office/officeart/2005/8/layout/vList2"/>
    <dgm:cxn modelId="{A10D1AAC-D2B2-4D6A-A3B4-D17A834A09E3}" type="presOf" srcId="{2AA910E2-0005-4AB2-94FE-9BC4EC341798}" destId="{3E3713E4-1A80-4874-8591-0EBE658A14C7}" srcOrd="0" destOrd="2" presId="urn:microsoft.com/office/officeart/2005/8/layout/vList2"/>
    <dgm:cxn modelId="{0028ABB7-9BC7-461E-9B9A-A8E44C0AB542}" srcId="{37623D4B-7FE1-4F54-9878-6887D27559CB}" destId="{2AA910E2-0005-4AB2-94FE-9BC4EC341798}" srcOrd="2" destOrd="0" parTransId="{25CAD01A-FA36-4031-9922-ECD8EF901D53}" sibTransId="{9B33AE42-61A5-4DDF-98E9-0E6567AF284D}"/>
    <dgm:cxn modelId="{EA385FB9-70A7-4E6A-8A70-31405C6EC0F7}" srcId="{8E589A7C-6F20-4F91-87BC-8D9EE4589F72}" destId="{1676AF1C-BFFE-46BD-B395-08EC45962470}" srcOrd="2" destOrd="0" parTransId="{93F27B1A-196E-4A97-AEE6-90D40FABE355}" sibTransId="{BF75CE0B-C5D7-4EE7-89BF-8B6384BFD662}"/>
    <dgm:cxn modelId="{44A8B1BD-4AE9-4765-B7B6-49B0D6198DBE}" type="presOf" srcId="{D3496F0E-967A-4B3D-B788-6CB248866B60}" destId="{064A72F0-419E-44B2-9875-4DD6946289FC}" srcOrd="0" destOrd="2" presId="urn:microsoft.com/office/officeart/2005/8/layout/vList2"/>
    <dgm:cxn modelId="{6BCAF7DB-4BBA-48A0-B1CF-D465213711F0}" type="presOf" srcId="{1676AF1C-BFFE-46BD-B395-08EC45962470}" destId="{1D7B4D92-755D-4101-A457-18013A850674}" srcOrd="0" destOrd="0" presId="urn:microsoft.com/office/officeart/2005/8/layout/vList2"/>
    <dgm:cxn modelId="{D884F0DC-AB9B-40D7-9EDD-66F52BB95128}" srcId="{A53EA747-09CC-4E33-8959-40FEE1D97D9A}" destId="{FDBE1BED-DF7C-4771-8BE8-D4FE6A5DDD36}" srcOrd="1" destOrd="0" parTransId="{DC58385E-0BF6-4579-BEF0-E5DA224D1DAB}" sibTransId="{D4AC0B7D-305D-4A03-9A5D-4597EB7F5415}"/>
    <dgm:cxn modelId="{A601A6E0-F726-4A5A-9E3A-D67C766D0763}" type="presOf" srcId="{CF914343-2842-4423-8EBD-90C0832EE013}" destId="{FBA74FA7-2F11-4F55-9E8D-DFE573B443DE}" srcOrd="0" destOrd="2" presId="urn:microsoft.com/office/officeart/2005/8/layout/vList2"/>
    <dgm:cxn modelId="{34C696EF-C43A-4184-9B1A-170B3F150BD1}" srcId="{1676AF1C-BFFE-46BD-B395-08EC45962470}" destId="{3D3D0566-D0A0-4727-823D-605E8E11D3B0}" srcOrd="0" destOrd="0" parTransId="{328DDF34-CB15-4A69-A0CE-4AA6DE99BE59}" sibTransId="{09596671-F650-42F7-90E0-8ECF5AA9DF20}"/>
    <dgm:cxn modelId="{16E6D1F1-9629-47E4-BBCF-C810AA0E32EC}" type="presOf" srcId="{7C896B6C-DF8B-44FA-8B65-FC75E234CC4B}" destId="{3E3713E4-1A80-4874-8591-0EBE658A14C7}" srcOrd="0" destOrd="0" presId="urn:microsoft.com/office/officeart/2005/8/layout/vList2"/>
    <dgm:cxn modelId="{5A39FEF1-4534-4AE1-97C7-CCC1D8BFC690}" srcId="{37623D4B-7FE1-4F54-9878-6887D27559CB}" destId="{5D47A82C-42EF-49DD-B6CD-CE88370452FD}" srcOrd="1" destOrd="0" parTransId="{8B79DB95-CE13-4D03-B455-7F32C96ACF64}" sibTransId="{4AFF581E-A144-4764-AA24-4B17FBD9BCCA}"/>
    <dgm:cxn modelId="{73B686F9-6C10-4E0D-AAE3-1EDF4987D01F}" type="presOf" srcId="{FDBE1BED-DF7C-4771-8BE8-D4FE6A5DDD36}" destId="{064A72F0-419E-44B2-9875-4DD6946289FC}" srcOrd="0" destOrd="1" presId="urn:microsoft.com/office/officeart/2005/8/layout/vList2"/>
    <dgm:cxn modelId="{1B88BC87-1C34-42A5-8357-BCC28E76E089}" type="presParOf" srcId="{D30485BB-002F-4229-9F49-8D33BFEF95F9}" destId="{8A93030C-A5E1-4D32-A08C-7F6E2C7AE014}" srcOrd="0" destOrd="0" presId="urn:microsoft.com/office/officeart/2005/8/layout/vList2"/>
    <dgm:cxn modelId="{3B53AC5E-C47D-4350-9D62-406CD89BD73E}" type="presParOf" srcId="{D30485BB-002F-4229-9F49-8D33BFEF95F9}" destId="{A2D4ADC0-D9C0-4216-8253-E1EE97C91E06}" srcOrd="1" destOrd="0" presId="urn:microsoft.com/office/officeart/2005/8/layout/vList2"/>
    <dgm:cxn modelId="{A9A82EE6-3896-4637-BEF7-087DFCC24762}" type="presParOf" srcId="{D30485BB-002F-4229-9F49-8D33BFEF95F9}" destId="{9B1ACBDF-1BCA-4987-B147-1B719C279329}" srcOrd="2" destOrd="0" presId="urn:microsoft.com/office/officeart/2005/8/layout/vList2"/>
    <dgm:cxn modelId="{96D76061-03D6-495B-9AB7-3FAD11AC86FA}" type="presParOf" srcId="{D30485BB-002F-4229-9F49-8D33BFEF95F9}" destId="{1C078530-08AA-4FFF-9152-E57B31AF8731}" srcOrd="3" destOrd="0" presId="urn:microsoft.com/office/officeart/2005/8/layout/vList2"/>
    <dgm:cxn modelId="{3FF56E16-8A8F-49E5-9154-64F5B28C0EBF}" type="presParOf" srcId="{D30485BB-002F-4229-9F49-8D33BFEF95F9}" destId="{1D7B4D92-755D-4101-A457-18013A850674}" srcOrd="4" destOrd="0" presId="urn:microsoft.com/office/officeart/2005/8/layout/vList2"/>
    <dgm:cxn modelId="{F87A8DA7-525A-44D7-9E20-0CB8D4122980}" type="presParOf" srcId="{D30485BB-002F-4229-9F49-8D33BFEF95F9}" destId="{FBA74FA7-2F11-4F55-9E8D-DFE573B443DE}" srcOrd="5" destOrd="0" presId="urn:microsoft.com/office/officeart/2005/8/layout/vList2"/>
    <dgm:cxn modelId="{93A05268-4D25-4017-8548-5A03F4F73CBB}" type="presParOf" srcId="{D30485BB-002F-4229-9F49-8D33BFEF95F9}" destId="{4BE68E27-ED28-4450-AC2F-62207D012561}" srcOrd="6" destOrd="0" presId="urn:microsoft.com/office/officeart/2005/8/layout/vList2"/>
    <dgm:cxn modelId="{B37951DE-80AE-46E9-A48B-7737337481B5}" type="presParOf" srcId="{D30485BB-002F-4229-9F49-8D33BFEF95F9}" destId="{064A72F0-419E-44B2-9875-4DD6946289FC}" srcOrd="7" destOrd="0" presId="urn:microsoft.com/office/officeart/2005/8/layout/vList2"/>
    <dgm:cxn modelId="{36513E2A-3691-4547-9ADF-5BB715B8D956}" type="presParOf" srcId="{D30485BB-002F-4229-9F49-8D33BFEF95F9}" destId="{793ED9BC-AD6C-412C-A984-DE5DE57078F9}" srcOrd="8" destOrd="0" presId="urn:microsoft.com/office/officeart/2005/8/layout/vList2"/>
    <dgm:cxn modelId="{F1CF412B-A597-41BE-AA9A-80AA75437C96}" type="presParOf" srcId="{D30485BB-002F-4229-9F49-8D33BFEF95F9}" destId="{3E3713E4-1A80-4874-8591-0EBE658A14C7}" srcOrd="9"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F4DF21-8205-4C08-B5FC-63B9D84989C0}" type="doc">
      <dgm:prSet loTypeId="urn:microsoft.com/office/officeart/2016/7/layout/VerticalSolidActionList" loCatId="List" qsTypeId="urn:microsoft.com/office/officeart/2005/8/quickstyle/simple2" qsCatId="simple" csTypeId="urn:microsoft.com/office/officeart/2005/8/colors/accent5_2" csCatId="accent5"/>
      <dgm:spPr/>
      <dgm:t>
        <a:bodyPr/>
        <a:lstStyle/>
        <a:p>
          <a:endParaRPr lang="en-US"/>
        </a:p>
      </dgm:t>
    </dgm:pt>
    <dgm:pt modelId="{CE64DC85-269E-4580-A97E-C3D6FD627652}">
      <dgm:prSet/>
      <dgm:spPr/>
      <dgm:t>
        <a:bodyPr/>
        <a:lstStyle/>
        <a:p>
          <a:r>
            <a:rPr lang="en-US"/>
            <a:t>MUW #1 - Payment Delay Analysis (2-3 days):</a:t>
          </a:r>
        </a:p>
      </dgm:t>
    </dgm:pt>
    <dgm:pt modelId="{AFA02C13-F084-406C-B2AB-7DC12251C8BF}" type="parTrans" cxnId="{C491BCE6-18B1-4DA4-8F61-8147A882758D}">
      <dgm:prSet/>
      <dgm:spPr/>
      <dgm:t>
        <a:bodyPr/>
        <a:lstStyle/>
        <a:p>
          <a:endParaRPr lang="en-US"/>
        </a:p>
      </dgm:t>
    </dgm:pt>
    <dgm:pt modelId="{D7EA866A-0ED4-4731-A64F-3C5990745581}" type="sibTrans" cxnId="{C491BCE6-18B1-4DA4-8F61-8147A882758D}">
      <dgm:prSet phldrT="1" phldr="0"/>
      <dgm:spPr/>
      <dgm:t>
        <a:bodyPr/>
        <a:lstStyle/>
        <a:p>
          <a:endParaRPr lang="en-US" dirty="0"/>
        </a:p>
      </dgm:t>
    </dgm:pt>
    <dgm:pt modelId="{72456407-6B1B-4321-9151-344CB8B740DC}">
      <dgm:prSet/>
      <dgm:spPr/>
      <dgm:t>
        <a:bodyPr/>
        <a:lstStyle/>
        <a:p>
          <a:pPr>
            <a:lnSpc>
              <a:spcPct val="100000"/>
            </a:lnSpc>
          </a:pPr>
          <a:r>
            <a:rPr lang="en-IN"/>
            <a:t>Objective: Determine if payment delays significantly impact credit score classification</a:t>
          </a:r>
          <a:endParaRPr lang="en-US"/>
        </a:p>
      </dgm:t>
    </dgm:pt>
    <dgm:pt modelId="{5759D7CD-7215-476D-843A-B9DBBE469497}" type="parTrans" cxnId="{59E42A74-0606-43FE-82BD-660D7327C44F}">
      <dgm:prSet/>
      <dgm:spPr/>
      <dgm:t>
        <a:bodyPr/>
        <a:lstStyle/>
        <a:p>
          <a:endParaRPr lang="en-US"/>
        </a:p>
      </dgm:t>
    </dgm:pt>
    <dgm:pt modelId="{B0A13679-70CA-4172-9B72-D5EF27E5EFB6}" type="sibTrans" cxnId="{59E42A74-0606-43FE-82BD-660D7327C44F}">
      <dgm:prSet/>
      <dgm:spPr/>
      <dgm:t>
        <a:bodyPr/>
        <a:lstStyle/>
        <a:p>
          <a:endParaRPr lang="en-US"/>
        </a:p>
      </dgm:t>
    </dgm:pt>
    <dgm:pt modelId="{B073AB8E-83B0-4ACB-BD6B-F76475042651}">
      <dgm:prSet/>
      <dgm:spPr/>
      <dgm:t>
        <a:bodyPr/>
        <a:lstStyle/>
        <a:p>
          <a:pPr>
            <a:lnSpc>
              <a:spcPct val="100000"/>
            </a:lnSpc>
          </a:pPr>
          <a:r>
            <a:rPr lang="en-IN"/>
            <a:t>Tasks: Exploratory analysis → Kruskal-Wallis test → Post-hoc Dunn's test → Boxplot visualizations</a:t>
          </a:r>
          <a:endParaRPr lang="en-US"/>
        </a:p>
      </dgm:t>
    </dgm:pt>
    <dgm:pt modelId="{584B5544-80D9-4199-8E21-2E6BBA8E826A}" type="parTrans" cxnId="{75CACE56-3C1E-4B3F-BEAC-CF73CED2098B}">
      <dgm:prSet/>
      <dgm:spPr/>
      <dgm:t>
        <a:bodyPr/>
        <a:lstStyle/>
        <a:p>
          <a:endParaRPr lang="en-US"/>
        </a:p>
      </dgm:t>
    </dgm:pt>
    <dgm:pt modelId="{F49747F5-6244-4721-926E-6F32B3099460}" type="sibTrans" cxnId="{75CACE56-3C1E-4B3F-BEAC-CF73CED2098B}">
      <dgm:prSet/>
      <dgm:spPr/>
      <dgm:t>
        <a:bodyPr/>
        <a:lstStyle/>
        <a:p>
          <a:endParaRPr lang="en-US"/>
        </a:p>
      </dgm:t>
    </dgm:pt>
    <dgm:pt modelId="{AF05B321-14CE-4A42-BBAF-7CD63CB66924}">
      <dgm:prSet/>
      <dgm:spPr/>
      <dgm:t>
        <a:bodyPr/>
        <a:lstStyle/>
        <a:p>
          <a:pPr>
            <a:lnSpc>
              <a:spcPct val="100000"/>
            </a:lnSpc>
          </a:pPr>
          <a:r>
            <a:rPr lang="en-IN"/>
            <a:t>Result: Statistical evidence that delays are highly significant (p&lt;0.001)</a:t>
          </a:r>
          <a:endParaRPr lang="en-US"/>
        </a:p>
      </dgm:t>
    </dgm:pt>
    <dgm:pt modelId="{521365CA-28AB-4D69-A83E-29BD64381278}" type="parTrans" cxnId="{1E340777-7345-4DC9-A650-9B52BD88952D}">
      <dgm:prSet/>
      <dgm:spPr/>
      <dgm:t>
        <a:bodyPr/>
        <a:lstStyle/>
        <a:p>
          <a:endParaRPr lang="en-US"/>
        </a:p>
      </dgm:t>
    </dgm:pt>
    <dgm:pt modelId="{71A819AE-2946-438E-9EDC-8C71E7C4887B}" type="sibTrans" cxnId="{1E340777-7345-4DC9-A650-9B52BD88952D}">
      <dgm:prSet/>
      <dgm:spPr/>
      <dgm:t>
        <a:bodyPr/>
        <a:lstStyle/>
        <a:p>
          <a:endParaRPr lang="en-US"/>
        </a:p>
      </dgm:t>
    </dgm:pt>
    <dgm:pt modelId="{8B9B456A-AD1C-4BC0-AC4E-B9020E8B5751}">
      <dgm:prSet/>
      <dgm:spPr/>
      <dgm:t>
        <a:bodyPr/>
        <a:lstStyle/>
        <a:p>
          <a:pPr>
            <a:lnSpc>
              <a:spcPct val="100000"/>
            </a:lnSpc>
          </a:pPr>
          <a:r>
            <a:rPr lang="en-IN"/>
            <a:t>Value: Clear understanding enabling stakeholder decisions</a:t>
          </a:r>
          <a:endParaRPr lang="en-US"/>
        </a:p>
      </dgm:t>
    </dgm:pt>
    <dgm:pt modelId="{9C69554F-7A7F-43DC-90FA-0D632781711A}" type="parTrans" cxnId="{AEA91835-8211-4C67-A0A6-E85BBD32A584}">
      <dgm:prSet/>
      <dgm:spPr/>
      <dgm:t>
        <a:bodyPr/>
        <a:lstStyle/>
        <a:p>
          <a:endParaRPr lang="en-US"/>
        </a:p>
      </dgm:t>
    </dgm:pt>
    <dgm:pt modelId="{6938FFFF-AD95-44B9-8A24-CABE6DAC01C3}" type="sibTrans" cxnId="{AEA91835-8211-4C67-A0A6-E85BBD32A584}">
      <dgm:prSet/>
      <dgm:spPr/>
      <dgm:t>
        <a:bodyPr/>
        <a:lstStyle/>
        <a:p>
          <a:endParaRPr lang="en-US"/>
        </a:p>
      </dgm:t>
    </dgm:pt>
    <dgm:pt modelId="{ED0D2A4A-2D82-4C4B-8CFF-85971A467D72}">
      <dgm:prSet/>
      <dgm:spPr/>
      <dgm:t>
        <a:bodyPr/>
        <a:lstStyle/>
        <a:p>
          <a:r>
            <a:rPr lang="en-US"/>
            <a:t>MUW #2 - Age Demographics Analysis (2-3 days):</a:t>
          </a:r>
        </a:p>
      </dgm:t>
    </dgm:pt>
    <dgm:pt modelId="{135C5AC3-4937-4A4A-B3FC-93C2FF34CF60}" type="parTrans" cxnId="{1AB16766-AC21-4341-8E22-ED8460216450}">
      <dgm:prSet/>
      <dgm:spPr/>
      <dgm:t>
        <a:bodyPr/>
        <a:lstStyle/>
        <a:p>
          <a:endParaRPr lang="en-US"/>
        </a:p>
      </dgm:t>
    </dgm:pt>
    <dgm:pt modelId="{6095AD9E-0841-4AFB-A2B5-F21732370D76}" type="sibTrans" cxnId="{1AB16766-AC21-4341-8E22-ED8460216450}">
      <dgm:prSet phldrT="2" phldr="0"/>
      <dgm:spPr/>
      <dgm:t>
        <a:bodyPr/>
        <a:lstStyle/>
        <a:p>
          <a:endParaRPr lang="en-US"/>
        </a:p>
      </dgm:t>
    </dgm:pt>
    <dgm:pt modelId="{88E04C8F-97DC-447D-88FE-6D285A84FA0E}">
      <dgm:prSet/>
      <dgm:spPr/>
      <dgm:t>
        <a:bodyPr/>
        <a:lstStyle/>
        <a:p>
          <a:pPr>
            <a:lnSpc>
              <a:spcPct val="100000"/>
            </a:lnSpc>
          </a:pPr>
          <a:r>
            <a:rPr lang="en-US"/>
            <a:t>Objective: Understand how age influences credit scores</a:t>
          </a:r>
        </a:p>
      </dgm:t>
    </dgm:pt>
    <dgm:pt modelId="{C04B223F-09B3-404B-94C3-45CE8B1BA242}" type="parTrans" cxnId="{48868C34-7D13-4A18-A164-413E693463A4}">
      <dgm:prSet/>
      <dgm:spPr/>
      <dgm:t>
        <a:bodyPr/>
        <a:lstStyle/>
        <a:p>
          <a:endParaRPr lang="en-US"/>
        </a:p>
      </dgm:t>
    </dgm:pt>
    <dgm:pt modelId="{87B11BB8-821D-4458-B40D-E1F8AAC7105B}" type="sibTrans" cxnId="{48868C34-7D13-4A18-A164-413E693463A4}">
      <dgm:prSet/>
      <dgm:spPr/>
      <dgm:t>
        <a:bodyPr/>
        <a:lstStyle/>
        <a:p>
          <a:endParaRPr lang="en-US"/>
        </a:p>
      </dgm:t>
    </dgm:pt>
    <dgm:pt modelId="{05BAADDC-6157-45F9-A98B-EA2A3C94A6C6}">
      <dgm:prSet/>
      <dgm:spPr/>
      <dgm:t>
        <a:bodyPr/>
        <a:lstStyle/>
        <a:p>
          <a:pPr>
            <a:lnSpc>
              <a:spcPct val="100000"/>
            </a:lnSpc>
          </a:pPr>
          <a:r>
            <a:rPr lang="en-US"/>
            <a:t>Tasks: Feature engineering (5 life-stage categories) → Chi-Square test → Distribution visualizations</a:t>
          </a:r>
        </a:p>
      </dgm:t>
    </dgm:pt>
    <dgm:pt modelId="{D2338194-D943-44F4-84F6-1B35F9DFEC06}" type="parTrans" cxnId="{E6BB87EA-525B-4C1F-80DB-E20D607F5574}">
      <dgm:prSet/>
      <dgm:spPr/>
      <dgm:t>
        <a:bodyPr/>
        <a:lstStyle/>
        <a:p>
          <a:endParaRPr lang="en-US"/>
        </a:p>
      </dgm:t>
    </dgm:pt>
    <dgm:pt modelId="{C5C697E2-5078-48C0-9A44-25FE2B591F66}" type="sibTrans" cxnId="{E6BB87EA-525B-4C1F-80DB-E20D607F5574}">
      <dgm:prSet/>
      <dgm:spPr/>
      <dgm:t>
        <a:bodyPr/>
        <a:lstStyle/>
        <a:p>
          <a:endParaRPr lang="en-US"/>
        </a:p>
      </dgm:t>
    </dgm:pt>
    <dgm:pt modelId="{03C12B99-CA88-4CEA-8B9E-0FAEFDF44FD5}">
      <dgm:prSet/>
      <dgm:spPr/>
      <dgm:t>
        <a:bodyPr/>
        <a:lstStyle/>
        <a:p>
          <a:pPr>
            <a:lnSpc>
              <a:spcPct val="100000"/>
            </a:lnSpc>
          </a:pPr>
          <a:r>
            <a:rPr lang="en-US"/>
            <a:t>Result: Significant association (χ²=362.12, p&lt;0.001), middle-aged groups show 40% more Good scores</a:t>
          </a:r>
        </a:p>
      </dgm:t>
    </dgm:pt>
    <dgm:pt modelId="{A65D01D9-B40B-452A-AC7C-BFB6E109CCA0}" type="parTrans" cxnId="{E3158614-9833-413D-BFE5-C70644ADFAEF}">
      <dgm:prSet/>
      <dgm:spPr/>
      <dgm:t>
        <a:bodyPr/>
        <a:lstStyle/>
        <a:p>
          <a:endParaRPr lang="en-US"/>
        </a:p>
      </dgm:t>
    </dgm:pt>
    <dgm:pt modelId="{015E4955-EDBB-44C7-A2F9-00B9A3231927}" type="sibTrans" cxnId="{E3158614-9833-413D-BFE5-C70644ADFAEF}">
      <dgm:prSet/>
      <dgm:spPr/>
      <dgm:t>
        <a:bodyPr/>
        <a:lstStyle/>
        <a:p>
          <a:endParaRPr lang="en-US"/>
        </a:p>
      </dgm:t>
    </dgm:pt>
    <dgm:pt modelId="{D128D23A-281B-4AE8-A2D1-F47C25A17CC1}">
      <dgm:prSet/>
      <dgm:spPr/>
      <dgm:t>
        <a:bodyPr/>
        <a:lstStyle/>
        <a:p>
          <a:pPr>
            <a:lnSpc>
              <a:spcPct val="100000"/>
            </a:lnSpc>
          </a:pPr>
          <a:r>
            <a:rPr lang="en-US"/>
            <a:t>Value: Demographic segmentation insights for lending strategy</a:t>
          </a:r>
        </a:p>
      </dgm:t>
    </dgm:pt>
    <dgm:pt modelId="{F0A8FB81-F210-4B74-8932-E835B4AFF773}" type="parTrans" cxnId="{72FC6E87-0671-40CB-A574-92DE13BF1DD6}">
      <dgm:prSet/>
      <dgm:spPr/>
      <dgm:t>
        <a:bodyPr/>
        <a:lstStyle/>
        <a:p>
          <a:endParaRPr lang="en-US"/>
        </a:p>
      </dgm:t>
    </dgm:pt>
    <dgm:pt modelId="{340270E0-3CD1-471B-B53C-FBA15DBD4367}" type="sibTrans" cxnId="{72FC6E87-0671-40CB-A574-92DE13BF1DD6}">
      <dgm:prSet/>
      <dgm:spPr/>
      <dgm:t>
        <a:bodyPr/>
        <a:lstStyle/>
        <a:p>
          <a:endParaRPr lang="en-US"/>
        </a:p>
      </dgm:t>
    </dgm:pt>
    <dgm:pt modelId="{BED101FE-3BE5-458F-88AF-AF52DEF702B4}">
      <dgm:prSet/>
      <dgm:spPr/>
      <dgm:t>
        <a:bodyPr/>
        <a:lstStyle/>
        <a:p>
          <a:r>
            <a:rPr lang="en-US"/>
            <a:t>MUW #3 - Credit Utilization Analysis (2-3 days):</a:t>
          </a:r>
        </a:p>
      </dgm:t>
    </dgm:pt>
    <dgm:pt modelId="{61888F30-C396-449A-B7E8-CB39034C01CB}" type="parTrans" cxnId="{11ECA2DB-C477-4C87-9086-C71D59E17102}">
      <dgm:prSet/>
      <dgm:spPr/>
      <dgm:t>
        <a:bodyPr/>
        <a:lstStyle/>
        <a:p>
          <a:endParaRPr lang="en-US"/>
        </a:p>
      </dgm:t>
    </dgm:pt>
    <dgm:pt modelId="{4F61AC63-4223-4C38-9118-1180FD1C68DE}" type="sibTrans" cxnId="{11ECA2DB-C477-4C87-9086-C71D59E17102}">
      <dgm:prSet phldrT="3" phldr="0"/>
      <dgm:spPr/>
      <dgm:t>
        <a:bodyPr/>
        <a:lstStyle/>
        <a:p>
          <a:endParaRPr lang="en-US"/>
        </a:p>
      </dgm:t>
    </dgm:pt>
    <dgm:pt modelId="{B39C07AE-2593-4E3F-B427-D4DC7A02B59D}">
      <dgm:prSet/>
      <dgm:spPr/>
      <dgm:t>
        <a:bodyPr/>
        <a:lstStyle/>
        <a:p>
          <a:pPr>
            <a:lnSpc>
              <a:spcPct val="100000"/>
            </a:lnSpc>
          </a:pPr>
          <a:r>
            <a:rPr lang="en-US"/>
            <a:t>Objective: Examine if utilization ratios differ across score categories</a:t>
          </a:r>
        </a:p>
      </dgm:t>
    </dgm:pt>
    <dgm:pt modelId="{AF989F1C-5CDF-41F9-A7C9-8DB23587E4C5}" type="parTrans" cxnId="{8A3A4D7A-0B10-4F9B-80A9-0591F391BC5D}">
      <dgm:prSet/>
      <dgm:spPr/>
      <dgm:t>
        <a:bodyPr/>
        <a:lstStyle/>
        <a:p>
          <a:endParaRPr lang="en-US"/>
        </a:p>
      </dgm:t>
    </dgm:pt>
    <dgm:pt modelId="{87818CF2-E42A-43AD-81D7-40C760843826}" type="sibTrans" cxnId="{8A3A4D7A-0B10-4F9B-80A9-0591F391BC5D}">
      <dgm:prSet/>
      <dgm:spPr/>
      <dgm:t>
        <a:bodyPr/>
        <a:lstStyle/>
        <a:p>
          <a:endParaRPr lang="en-US"/>
        </a:p>
      </dgm:t>
    </dgm:pt>
    <dgm:pt modelId="{C81F914F-8005-479C-A96A-AB0557EEC44B}">
      <dgm:prSet/>
      <dgm:spPr/>
      <dgm:t>
        <a:bodyPr/>
        <a:lstStyle/>
        <a:p>
          <a:pPr>
            <a:lnSpc>
              <a:spcPct val="100000"/>
            </a:lnSpc>
          </a:pPr>
          <a:r>
            <a:rPr lang="en-US"/>
            <a:t>Tasks: Exploratory analysis → ANOVA testing → Summary statistics → Visualization</a:t>
          </a:r>
        </a:p>
      </dgm:t>
    </dgm:pt>
    <dgm:pt modelId="{A54F4DAF-0F66-4B09-953F-BC8CA5AACFA7}" type="parTrans" cxnId="{52D83F90-A772-4378-80FB-3DE8DEEA872B}">
      <dgm:prSet/>
      <dgm:spPr/>
      <dgm:t>
        <a:bodyPr/>
        <a:lstStyle/>
        <a:p>
          <a:endParaRPr lang="en-US"/>
        </a:p>
      </dgm:t>
    </dgm:pt>
    <dgm:pt modelId="{B16CA0E9-010F-4ACE-9F3F-67A087200B22}" type="sibTrans" cxnId="{52D83F90-A772-4378-80FB-3DE8DEEA872B}">
      <dgm:prSet/>
      <dgm:spPr/>
      <dgm:t>
        <a:bodyPr/>
        <a:lstStyle/>
        <a:p>
          <a:endParaRPr lang="en-US"/>
        </a:p>
      </dgm:t>
    </dgm:pt>
    <dgm:pt modelId="{0381FFBB-53BD-450D-99BE-14AB58AF1EA1}">
      <dgm:prSet/>
      <dgm:spPr/>
      <dgm:t>
        <a:bodyPr/>
        <a:lstStyle/>
        <a:p>
          <a:pPr>
            <a:lnSpc>
              <a:spcPct val="100000"/>
            </a:lnSpc>
          </a:pPr>
          <a:r>
            <a:rPr lang="en-US"/>
            <a:t>Result: Optimal range 21-30% for Good scores; &gt;40% associated with Poor classification</a:t>
          </a:r>
        </a:p>
      </dgm:t>
    </dgm:pt>
    <dgm:pt modelId="{EC0DD8D5-5CA3-462C-8244-3A798520D2DE}" type="parTrans" cxnId="{CFD96251-4BE0-427B-B5BB-9A595D7BD8E4}">
      <dgm:prSet/>
      <dgm:spPr/>
      <dgm:t>
        <a:bodyPr/>
        <a:lstStyle/>
        <a:p>
          <a:endParaRPr lang="en-US"/>
        </a:p>
      </dgm:t>
    </dgm:pt>
    <dgm:pt modelId="{E255EAFE-5E7D-42FA-AE76-42E7A47DF962}" type="sibTrans" cxnId="{CFD96251-4BE0-427B-B5BB-9A595D7BD8E4}">
      <dgm:prSet/>
      <dgm:spPr/>
      <dgm:t>
        <a:bodyPr/>
        <a:lstStyle/>
        <a:p>
          <a:endParaRPr lang="en-US"/>
        </a:p>
      </dgm:t>
    </dgm:pt>
    <dgm:pt modelId="{B0D4F4F4-7E44-4C42-9DC3-2AE48D3AEA31}">
      <dgm:prSet/>
      <dgm:spPr/>
      <dgm:t>
        <a:bodyPr/>
        <a:lstStyle/>
        <a:p>
          <a:pPr>
            <a:lnSpc>
              <a:spcPct val="100000"/>
            </a:lnSpc>
          </a:pPr>
          <a:r>
            <a:rPr lang="en-US"/>
            <a:t>Value: Actionable threshold guidance for consumers</a:t>
          </a:r>
        </a:p>
      </dgm:t>
    </dgm:pt>
    <dgm:pt modelId="{36B55BC5-76D1-40A3-9F16-0FB95FD7382B}" type="parTrans" cxnId="{1BAC24CD-FB69-40ED-9211-4CDCF5AA2AC1}">
      <dgm:prSet/>
      <dgm:spPr/>
      <dgm:t>
        <a:bodyPr/>
        <a:lstStyle/>
        <a:p>
          <a:endParaRPr lang="en-US"/>
        </a:p>
      </dgm:t>
    </dgm:pt>
    <dgm:pt modelId="{9CCD61B8-13B9-46EC-9007-459FD678A42E}" type="sibTrans" cxnId="{1BAC24CD-FB69-40ED-9211-4CDCF5AA2AC1}">
      <dgm:prSet/>
      <dgm:spPr/>
      <dgm:t>
        <a:bodyPr/>
        <a:lstStyle/>
        <a:p>
          <a:endParaRPr lang="en-US"/>
        </a:p>
      </dgm:t>
    </dgm:pt>
    <dgm:pt modelId="{BC8D408D-D8F0-4837-98D6-7C7904845978}" type="pres">
      <dgm:prSet presAssocID="{27F4DF21-8205-4C08-B5FC-63B9D84989C0}" presName="Name0" presStyleCnt="0">
        <dgm:presLayoutVars>
          <dgm:dir/>
          <dgm:animLvl val="lvl"/>
          <dgm:resizeHandles val="exact"/>
        </dgm:presLayoutVars>
      </dgm:prSet>
      <dgm:spPr/>
    </dgm:pt>
    <dgm:pt modelId="{F56F87A9-B9D8-4479-B3DA-3727267849E8}" type="pres">
      <dgm:prSet presAssocID="{CE64DC85-269E-4580-A97E-C3D6FD627652}" presName="linNode" presStyleCnt="0"/>
      <dgm:spPr/>
    </dgm:pt>
    <dgm:pt modelId="{7DB16BD1-04CD-4A9F-81DD-0115EEB355F9}" type="pres">
      <dgm:prSet presAssocID="{CE64DC85-269E-4580-A97E-C3D6FD627652}" presName="parentText" presStyleLbl="alignNode1" presStyleIdx="0" presStyleCnt="3">
        <dgm:presLayoutVars>
          <dgm:chMax val="1"/>
          <dgm:bulletEnabled/>
        </dgm:presLayoutVars>
      </dgm:prSet>
      <dgm:spPr/>
    </dgm:pt>
    <dgm:pt modelId="{5C056D9F-2B9F-4653-9D43-881F3464F935}" type="pres">
      <dgm:prSet presAssocID="{CE64DC85-269E-4580-A97E-C3D6FD627652}" presName="descendantText" presStyleLbl="alignAccFollowNode1" presStyleIdx="0" presStyleCnt="3">
        <dgm:presLayoutVars>
          <dgm:bulletEnabled/>
        </dgm:presLayoutVars>
      </dgm:prSet>
      <dgm:spPr/>
    </dgm:pt>
    <dgm:pt modelId="{C179915A-459A-4852-8268-206D4A781DCB}" type="pres">
      <dgm:prSet presAssocID="{D7EA866A-0ED4-4731-A64F-3C5990745581}" presName="sp" presStyleCnt="0"/>
      <dgm:spPr/>
    </dgm:pt>
    <dgm:pt modelId="{8C44B6F9-3E14-4A37-A320-467EAA5634D4}" type="pres">
      <dgm:prSet presAssocID="{ED0D2A4A-2D82-4C4B-8CFF-85971A467D72}" presName="linNode" presStyleCnt="0"/>
      <dgm:spPr/>
    </dgm:pt>
    <dgm:pt modelId="{C628B374-27A1-4426-B47B-DD7DB95708AA}" type="pres">
      <dgm:prSet presAssocID="{ED0D2A4A-2D82-4C4B-8CFF-85971A467D72}" presName="parentText" presStyleLbl="alignNode1" presStyleIdx="1" presStyleCnt="3">
        <dgm:presLayoutVars>
          <dgm:chMax val="1"/>
          <dgm:bulletEnabled/>
        </dgm:presLayoutVars>
      </dgm:prSet>
      <dgm:spPr/>
    </dgm:pt>
    <dgm:pt modelId="{CA8E82C5-AB43-4ED8-93DB-CB71E8EFD0DF}" type="pres">
      <dgm:prSet presAssocID="{ED0D2A4A-2D82-4C4B-8CFF-85971A467D72}" presName="descendantText" presStyleLbl="alignAccFollowNode1" presStyleIdx="1" presStyleCnt="3">
        <dgm:presLayoutVars>
          <dgm:bulletEnabled/>
        </dgm:presLayoutVars>
      </dgm:prSet>
      <dgm:spPr/>
    </dgm:pt>
    <dgm:pt modelId="{8E888EAD-6843-40FC-9304-0294C4FBE85B}" type="pres">
      <dgm:prSet presAssocID="{6095AD9E-0841-4AFB-A2B5-F21732370D76}" presName="sp" presStyleCnt="0"/>
      <dgm:spPr/>
    </dgm:pt>
    <dgm:pt modelId="{A7DD14ED-7484-406D-95DF-E667BDBAEFD0}" type="pres">
      <dgm:prSet presAssocID="{BED101FE-3BE5-458F-88AF-AF52DEF702B4}" presName="linNode" presStyleCnt="0"/>
      <dgm:spPr/>
    </dgm:pt>
    <dgm:pt modelId="{EEA0A076-4AE9-481E-A067-81AA52BEF199}" type="pres">
      <dgm:prSet presAssocID="{BED101FE-3BE5-458F-88AF-AF52DEF702B4}" presName="parentText" presStyleLbl="alignNode1" presStyleIdx="2" presStyleCnt="3">
        <dgm:presLayoutVars>
          <dgm:chMax val="1"/>
          <dgm:bulletEnabled/>
        </dgm:presLayoutVars>
      </dgm:prSet>
      <dgm:spPr/>
    </dgm:pt>
    <dgm:pt modelId="{2D6B481D-2545-4CAB-A92F-304DFD177567}" type="pres">
      <dgm:prSet presAssocID="{BED101FE-3BE5-458F-88AF-AF52DEF702B4}" presName="descendantText" presStyleLbl="alignAccFollowNode1" presStyleIdx="2" presStyleCnt="3">
        <dgm:presLayoutVars>
          <dgm:bulletEnabled/>
        </dgm:presLayoutVars>
      </dgm:prSet>
      <dgm:spPr/>
    </dgm:pt>
  </dgm:ptLst>
  <dgm:cxnLst>
    <dgm:cxn modelId="{97098303-CCEF-41A1-AB62-D29C618D5B7F}" type="presOf" srcId="{D128D23A-281B-4AE8-A2D1-F47C25A17CC1}" destId="{CA8E82C5-AB43-4ED8-93DB-CB71E8EFD0DF}" srcOrd="0" destOrd="3" presId="urn:microsoft.com/office/officeart/2016/7/layout/VerticalSolidActionList"/>
    <dgm:cxn modelId="{F948DD0A-5879-4777-BD3F-DFCCBD36C6E7}" type="presOf" srcId="{0381FFBB-53BD-450D-99BE-14AB58AF1EA1}" destId="{2D6B481D-2545-4CAB-A92F-304DFD177567}" srcOrd="0" destOrd="2" presId="urn:microsoft.com/office/officeart/2016/7/layout/VerticalSolidActionList"/>
    <dgm:cxn modelId="{E3158614-9833-413D-BFE5-C70644ADFAEF}" srcId="{ED0D2A4A-2D82-4C4B-8CFF-85971A467D72}" destId="{03C12B99-CA88-4CEA-8B9E-0FAEFDF44FD5}" srcOrd="2" destOrd="0" parTransId="{A65D01D9-B40B-452A-AC7C-BFB6E109CCA0}" sibTransId="{015E4955-EDBB-44C7-A2F9-00B9A3231927}"/>
    <dgm:cxn modelId="{D2BF7921-5F9F-4468-B4A3-314100A5E1D2}" type="presOf" srcId="{27F4DF21-8205-4C08-B5FC-63B9D84989C0}" destId="{BC8D408D-D8F0-4837-98D6-7C7904845978}" srcOrd="0" destOrd="0" presId="urn:microsoft.com/office/officeart/2016/7/layout/VerticalSolidActionList"/>
    <dgm:cxn modelId="{45AF742D-DC6D-4F89-B385-2C47DA466558}" type="presOf" srcId="{05BAADDC-6157-45F9-A98B-EA2A3C94A6C6}" destId="{CA8E82C5-AB43-4ED8-93DB-CB71E8EFD0DF}" srcOrd="0" destOrd="1" presId="urn:microsoft.com/office/officeart/2016/7/layout/VerticalSolidActionList"/>
    <dgm:cxn modelId="{48868C34-7D13-4A18-A164-413E693463A4}" srcId="{ED0D2A4A-2D82-4C4B-8CFF-85971A467D72}" destId="{88E04C8F-97DC-447D-88FE-6D285A84FA0E}" srcOrd="0" destOrd="0" parTransId="{C04B223F-09B3-404B-94C3-45CE8B1BA242}" sibTransId="{87B11BB8-821D-4458-B40D-E1F8AAC7105B}"/>
    <dgm:cxn modelId="{AEA91835-8211-4C67-A0A6-E85BBD32A584}" srcId="{CE64DC85-269E-4580-A97E-C3D6FD627652}" destId="{8B9B456A-AD1C-4BC0-AC4E-B9020E8B5751}" srcOrd="3" destOrd="0" parTransId="{9C69554F-7A7F-43DC-90FA-0D632781711A}" sibTransId="{6938FFFF-AD95-44B9-8A24-CABE6DAC01C3}"/>
    <dgm:cxn modelId="{268D6364-3BAB-4AA6-8CFB-6C4FE99EFE87}" type="presOf" srcId="{BED101FE-3BE5-458F-88AF-AF52DEF702B4}" destId="{EEA0A076-4AE9-481E-A067-81AA52BEF199}" srcOrd="0" destOrd="0" presId="urn:microsoft.com/office/officeart/2016/7/layout/VerticalSolidActionList"/>
    <dgm:cxn modelId="{1AB16766-AC21-4341-8E22-ED8460216450}" srcId="{27F4DF21-8205-4C08-B5FC-63B9D84989C0}" destId="{ED0D2A4A-2D82-4C4B-8CFF-85971A467D72}" srcOrd="1" destOrd="0" parTransId="{135C5AC3-4937-4A4A-B3FC-93C2FF34CF60}" sibTransId="{6095AD9E-0841-4AFB-A2B5-F21732370D76}"/>
    <dgm:cxn modelId="{81561E67-F79F-4DF5-92A6-8533605499CF}" type="presOf" srcId="{B0D4F4F4-7E44-4C42-9DC3-2AE48D3AEA31}" destId="{2D6B481D-2545-4CAB-A92F-304DFD177567}" srcOrd="0" destOrd="3" presId="urn:microsoft.com/office/officeart/2016/7/layout/VerticalSolidActionList"/>
    <dgm:cxn modelId="{CFD96251-4BE0-427B-B5BB-9A595D7BD8E4}" srcId="{BED101FE-3BE5-458F-88AF-AF52DEF702B4}" destId="{0381FFBB-53BD-450D-99BE-14AB58AF1EA1}" srcOrd="2" destOrd="0" parTransId="{EC0DD8D5-5CA3-462C-8244-3A798520D2DE}" sibTransId="{E255EAFE-5E7D-42FA-AE76-42E7A47DF962}"/>
    <dgm:cxn modelId="{59E42A74-0606-43FE-82BD-660D7327C44F}" srcId="{CE64DC85-269E-4580-A97E-C3D6FD627652}" destId="{72456407-6B1B-4321-9151-344CB8B740DC}" srcOrd="0" destOrd="0" parTransId="{5759D7CD-7215-476D-843A-B9DBBE469497}" sibTransId="{B0A13679-70CA-4172-9B72-D5EF27E5EFB6}"/>
    <dgm:cxn modelId="{75CACE56-3C1E-4B3F-BEAC-CF73CED2098B}" srcId="{CE64DC85-269E-4580-A97E-C3D6FD627652}" destId="{B073AB8E-83B0-4ACB-BD6B-F76475042651}" srcOrd="1" destOrd="0" parTransId="{584B5544-80D9-4199-8E21-2E6BBA8E826A}" sibTransId="{F49747F5-6244-4721-926E-6F32B3099460}"/>
    <dgm:cxn modelId="{1E340777-7345-4DC9-A650-9B52BD88952D}" srcId="{CE64DC85-269E-4580-A97E-C3D6FD627652}" destId="{AF05B321-14CE-4A42-BBAF-7CD63CB66924}" srcOrd="2" destOrd="0" parTransId="{521365CA-28AB-4D69-A83E-29BD64381278}" sibTransId="{71A819AE-2946-438E-9EDC-8C71E7C4887B}"/>
    <dgm:cxn modelId="{DFFF5F57-F5BA-4EBF-9CF1-1AEDB42F5B24}" type="presOf" srcId="{AF05B321-14CE-4A42-BBAF-7CD63CB66924}" destId="{5C056D9F-2B9F-4653-9D43-881F3464F935}" srcOrd="0" destOrd="2" presId="urn:microsoft.com/office/officeart/2016/7/layout/VerticalSolidActionList"/>
    <dgm:cxn modelId="{F0A0BF59-A5AC-4429-8210-2D0B8E2E6B1C}" type="presOf" srcId="{C81F914F-8005-479C-A96A-AB0557EEC44B}" destId="{2D6B481D-2545-4CAB-A92F-304DFD177567}" srcOrd="0" destOrd="1" presId="urn:microsoft.com/office/officeart/2016/7/layout/VerticalSolidActionList"/>
    <dgm:cxn modelId="{94132B5A-42B8-45EF-A919-3E0F564297DC}" type="presOf" srcId="{03C12B99-CA88-4CEA-8B9E-0FAEFDF44FD5}" destId="{CA8E82C5-AB43-4ED8-93DB-CB71E8EFD0DF}" srcOrd="0" destOrd="2" presId="urn:microsoft.com/office/officeart/2016/7/layout/VerticalSolidActionList"/>
    <dgm:cxn modelId="{8A3A4D7A-0B10-4F9B-80A9-0591F391BC5D}" srcId="{BED101FE-3BE5-458F-88AF-AF52DEF702B4}" destId="{B39C07AE-2593-4E3F-B427-D4DC7A02B59D}" srcOrd="0" destOrd="0" parTransId="{AF989F1C-5CDF-41F9-A7C9-8DB23587E4C5}" sibTransId="{87818CF2-E42A-43AD-81D7-40C760843826}"/>
    <dgm:cxn modelId="{72FC6E87-0671-40CB-A574-92DE13BF1DD6}" srcId="{ED0D2A4A-2D82-4C4B-8CFF-85971A467D72}" destId="{D128D23A-281B-4AE8-A2D1-F47C25A17CC1}" srcOrd="3" destOrd="0" parTransId="{F0A8FB81-F210-4B74-8932-E835B4AFF773}" sibTransId="{340270E0-3CD1-471B-B53C-FBA15DBD4367}"/>
    <dgm:cxn modelId="{ADF78D89-E70F-49CE-8A04-5D02D7E732F6}" type="presOf" srcId="{B073AB8E-83B0-4ACB-BD6B-F76475042651}" destId="{5C056D9F-2B9F-4653-9D43-881F3464F935}" srcOrd="0" destOrd="1" presId="urn:microsoft.com/office/officeart/2016/7/layout/VerticalSolidActionList"/>
    <dgm:cxn modelId="{52D83F90-A772-4378-80FB-3DE8DEEA872B}" srcId="{BED101FE-3BE5-458F-88AF-AF52DEF702B4}" destId="{C81F914F-8005-479C-A96A-AB0557EEC44B}" srcOrd="1" destOrd="0" parTransId="{A54F4DAF-0F66-4B09-953F-BC8CA5AACFA7}" sibTransId="{B16CA0E9-010F-4ACE-9F3F-67A087200B22}"/>
    <dgm:cxn modelId="{8F61C697-7A1A-4265-8B18-AD036B4AD838}" type="presOf" srcId="{ED0D2A4A-2D82-4C4B-8CFF-85971A467D72}" destId="{C628B374-27A1-4426-B47B-DD7DB95708AA}" srcOrd="0" destOrd="0" presId="urn:microsoft.com/office/officeart/2016/7/layout/VerticalSolidActionList"/>
    <dgm:cxn modelId="{3BEAE69E-0521-407D-8B68-4A5DAC47EDC0}" type="presOf" srcId="{B39C07AE-2593-4E3F-B427-D4DC7A02B59D}" destId="{2D6B481D-2545-4CAB-A92F-304DFD177567}" srcOrd="0" destOrd="0" presId="urn:microsoft.com/office/officeart/2016/7/layout/VerticalSolidActionList"/>
    <dgm:cxn modelId="{E4BB95B4-D1AE-430C-B3C9-BA19A3B8C551}" type="presOf" srcId="{CE64DC85-269E-4580-A97E-C3D6FD627652}" destId="{7DB16BD1-04CD-4A9F-81DD-0115EEB355F9}" srcOrd="0" destOrd="0" presId="urn:microsoft.com/office/officeart/2016/7/layout/VerticalSolidActionList"/>
    <dgm:cxn modelId="{B5FC8DC0-22C2-4091-910D-01D4481CC406}" type="presOf" srcId="{88E04C8F-97DC-447D-88FE-6D285A84FA0E}" destId="{CA8E82C5-AB43-4ED8-93DB-CB71E8EFD0DF}" srcOrd="0" destOrd="0" presId="urn:microsoft.com/office/officeart/2016/7/layout/VerticalSolidActionList"/>
    <dgm:cxn modelId="{1BAC24CD-FB69-40ED-9211-4CDCF5AA2AC1}" srcId="{BED101FE-3BE5-458F-88AF-AF52DEF702B4}" destId="{B0D4F4F4-7E44-4C42-9DC3-2AE48D3AEA31}" srcOrd="3" destOrd="0" parTransId="{36B55BC5-76D1-40A3-9F16-0FB95FD7382B}" sibTransId="{9CCD61B8-13B9-46EC-9007-459FD678A42E}"/>
    <dgm:cxn modelId="{B58C74D3-8547-4ACE-9A41-DFE91702CB83}" type="presOf" srcId="{8B9B456A-AD1C-4BC0-AC4E-B9020E8B5751}" destId="{5C056D9F-2B9F-4653-9D43-881F3464F935}" srcOrd="0" destOrd="3" presId="urn:microsoft.com/office/officeart/2016/7/layout/VerticalSolidActionList"/>
    <dgm:cxn modelId="{11ECA2DB-C477-4C87-9086-C71D59E17102}" srcId="{27F4DF21-8205-4C08-B5FC-63B9D84989C0}" destId="{BED101FE-3BE5-458F-88AF-AF52DEF702B4}" srcOrd="2" destOrd="0" parTransId="{61888F30-C396-449A-B7E8-CB39034C01CB}" sibTransId="{4F61AC63-4223-4C38-9118-1180FD1C68DE}"/>
    <dgm:cxn modelId="{C491BCE6-18B1-4DA4-8F61-8147A882758D}" srcId="{27F4DF21-8205-4C08-B5FC-63B9D84989C0}" destId="{CE64DC85-269E-4580-A97E-C3D6FD627652}" srcOrd="0" destOrd="0" parTransId="{AFA02C13-F084-406C-B2AB-7DC12251C8BF}" sibTransId="{D7EA866A-0ED4-4731-A64F-3C5990745581}"/>
    <dgm:cxn modelId="{E6BB87EA-525B-4C1F-80DB-E20D607F5574}" srcId="{ED0D2A4A-2D82-4C4B-8CFF-85971A467D72}" destId="{05BAADDC-6157-45F9-A98B-EA2A3C94A6C6}" srcOrd="1" destOrd="0" parTransId="{D2338194-D943-44F4-84F6-1B35F9DFEC06}" sibTransId="{C5C697E2-5078-48C0-9A44-25FE2B591F66}"/>
    <dgm:cxn modelId="{73832DF8-8215-4BBB-A35F-A9B700FD73E4}" type="presOf" srcId="{72456407-6B1B-4321-9151-344CB8B740DC}" destId="{5C056D9F-2B9F-4653-9D43-881F3464F935}" srcOrd="0" destOrd="0" presId="urn:microsoft.com/office/officeart/2016/7/layout/VerticalSolidActionList"/>
    <dgm:cxn modelId="{A4E9BFEB-98E3-498D-954D-341B7CD43F6B}" type="presParOf" srcId="{BC8D408D-D8F0-4837-98D6-7C7904845978}" destId="{F56F87A9-B9D8-4479-B3DA-3727267849E8}" srcOrd="0" destOrd="0" presId="urn:microsoft.com/office/officeart/2016/7/layout/VerticalSolidActionList"/>
    <dgm:cxn modelId="{44834F9A-9F85-4CAE-B9DA-103E439414DB}" type="presParOf" srcId="{F56F87A9-B9D8-4479-B3DA-3727267849E8}" destId="{7DB16BD1-04CD-4A9F-81DD-0115EEB355F9}" srcOrd="0" destOrd="0" presId="urn:microsoft.com/office/officeart/2016/7/layout/VerticalSolidActionList"/>
    <dgm:cxn modelId="{F67D8AC8-9E55-4255-B7B4-127527091B47}" type="presParOf" srcId="{F56F87A9-B9D8-4479-B3DA-3727267849E8}" destId="{5C056D9F-2B9F-4653-9D43-881F3464F935}" srcOrd="1" destOrd="0" presId="urn:microsoft.com/office/officeart/2016/7/layout/VerticalSolidActionList"/>
    <dgm:cxn modelId="{2D7ACB5E-D23E-43C7-ACE6-CC94F1EB2BBB}" type="presParOf" srcId="{BC8D408D-D8F0-4837-98D6-7C7904845978}" destId="{C179915A-459A-4852-8268-206D4A781DCB}" srcOrd="1" destOrd="0" presId="urn:microsoft.com/office/officeart/2016/7/layout/VerticalSolidActionList"/>
    <dgm:cxn modelId="{CFF4D54B-EB0E-47F1-AD3A-6CE145665076}" type="presParOf" srcId="{BC8D408D-D8F0-4837-98D6-7C7904845978}" destId="{8C44B6F9-3E14-4A37-A320-467EAA5634D4}" srcOrd="2" destOrd="0" presId="urn:microsoft.com/office/officeart/2016/7/layout/VerticalSolidActionList"/>
    <dgm:cxn modelId="{4F9BD72E-28C4-4149-95EC-1141818A0429}" type="presParOf" srcId="{8C44B6F9-3E14-4A37-A320-467EAA5634D4}" destId="{C628B374-27A1-4426-B47B-DD7DB95708AA}" srcOrd="0" destOrd="0" presId="urn:microsoft.com/office/officeart/2016/7/layout/VerticalSolidActionList"/>
    <dgm:cxn modelId="{47F3B61F-CF6F-4AE0-90A7-EC10669FD40C}" type="presParOf" srcId="{8C44B6F9-3E14-4A37-A320-467EAA5634D4}" destId="{CA8E82C5-AB43-4ED8-93DB-CB71E8EFD0DF}" srcOrd="1" destOrd="0" presId="urn:microsoft.com/office/officeart/2016/7/layout/VerticalSolidActionList"/>
    <dgm:cxn modelId="{736129A3-2CB8-4EB3-935C-15ACBAD762B3}" type="presParOf" srcId="{BC8D408D-D8F0-4837-98D6-7C7904845978}" destId="{8E888EAD-6843-40FC-9304-0294C4FBE85B}" srcOrd="3" destOrd="0" presId="urn:microsoft.com/office/officeart/2016/7/layout/VerticalSolidActionList"/>
    <dgm:cxn modelId="{683C540B-6F7A-46CA-A96C-473A29811B41}" type="presParOf" srcId="{BC8D408D-D8F0-4837-98D6-7C7904845978}" destId="{A7DD14ED-7484-406D-95DF-E667BDBAEFD0}" srcOrd="4" destOrd="0" presId="urn:microsoft.com/office/officeart/2016/7/layout/VerticalSolidActionList"/>
    <dgm:cxn modelId="{2E18DBC0-2FAC-4F40-8759-CC9A34ADA4F5}" type="presParOf" srcId="{A7DD14ED-7484-406D-95DF-E667BDBAEFD0}" destId="{EEA0A076-4AE9-481E-A067-81AA52BEF199}" srcOrd="0" destOrd="0" presId="urn:microsoft.com/office/officeart/2016/7/layout/VerticalSolidActionList"/>
    <dgm:cxn modelId="{5E3C548C-543F-4E36-ABB7-8D9A0D09C9EB}" type="presParOf" srcId="{A7DD14ED-7484-406D-95DF-E667BDBAEFD0}" destId="{2D6B481D-2545-4CAB-A92F-304DFD177567}" srcOrd="1" destOrd="0" presId="urn:microsoft.com/office/officeart/2016/7/layout/VerticalSolid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4A238F-E73E-415C-957D-0715F26194FD}" type="doc">
      <dgm:prSet loTypeId="urn:microsoft.com/office/officeart/2016/7/layout/BasicLinearProcessNumbered" loCatId="process" qsTypeId="urn:microsoft.com/office/officeart/2005/8/quickstyle/simple1" qsCatId="simple" csTypeId="urn:microsoft.com/office/officeart/2005/8/colors/colorful5" csCatId="colorful"/>
      <dgm:spPr/>
      <dgm:t>
        <a:bodyPr/>
        <a:lstStyle/>
        <a:p>
          <a:endParaRPr lang="en-US"/>
        </a:p>
      </dgm:t>
    </dgm:pt>
    <dgm:pt modelId="{2A7D84CE-2579-4443-8FF3-1FED0C67E51D}">
      <dgm:prSet/>
      <dgm:spPr/>
      <dgm:t>
        <a:bodyPr/>
        <a:lstStyle/>
        <a:p>
          <a:r>
            <a:rPr lang="en-IN"/>
            <a:t>Daily Stand-ups (5 minutes)</a:t>
          </a:r>
          <a:endParaRPr lang="en-US"/>
        </a:p>
      </dgm:t>
    </dgm:pt>
    <dgm:pt modelId="{15756D51-975C-4317-B767-9AA93D6029CF}" type="parTrans" cxnId="{C12B5FF9-64B0-4D00-9E97-B3633F06800E}">
      <dgm:prSet/>
      <dgm:spPr/>
      <dgm:t>
        <a:bodyPr/>
        <a:lstStyle/>
        <a:p>
          <a:endParaRPr lang="en-US"/>
        </a:p>
      </dgm:t>
    </dgm:pt>
    <dgm:pt modelId="{821292D9-FD54-41CE-AED9-D4E1445A9CCB}" type="sibTrans" cxnId="{C12B5FF9-64B0-4D00-9E97-B3633F06800E}">
      <dgm:prSet phldrT="1"/>
      <dgm:spPr/>
      <dgm:t>
        <a:bodyPr/>
        <a:lstStyle/>
        <a:p>
          <a:r>
            <a:rPr lang="en-US"/>
            <a:t>1</a:t>
          </a:r>
        </a:p>
      </dgm:t>
    </dgm:pt>
    <dgm:pt modelId="{2C4F29FC-7D70-461C-ACC2-7CE16392EE23}">
      <dgm:prSet/>
      <dgm:spPr/>
      <dgm:t>
        <a:bodyPr/>
        <a:lstStyle/>
        <a:p>
          <a:r>
            <a:rPr lang="en-US"/>
            <a:t>What was completed yesterday?</a:t>
          </a:r>
        </a:p>
      </dgm:t>
    </dgm:pt>
    <dgm:pt modelId="{065AE3E3-6098-4AF1-AF5A-E212C79B8842}" type="parTrans" cxnId="{80B4464A-D804-4CCC-8C15-669C864C6D11}">
      <dgm:prSet/>
      <dgm:spPr/>
      <dgm:t>
        <a:bodyPr/>
        <a:lstStyle/>
        <a:p>
          <a:endParaRPr lang="en-US"/>
        </a:p>
      </dgm:t>
    </dgm:pt>
    <dgm:pt modelId="{A0D7AA8F-EACF-452A-95C9-C9BE6C482D41}" type="sibTrans" cxnId="{80B4464A-D804-4CCC-8C15-669C864C6D11}">
      <dgm:prSet/>
      <dgm:spPr/>
      <dgm:t>
        <a:bodyPr/>
        <a:lstStyle/>
        <a:p>
          <a:endParaRPr lang="en-US"/>
        </a:p>
      </dgm:t>
    </dgm:pt>
    <dgm:pt modelId="{067C5A73-4F7D-4A2C-B602-88A9F57AE2F6}">
      <dgm:prSet/>
      <dgm:spPr/>
      <dgm:t>
        <a:bodyPr/>
        <a:lstStyle/>
        <a:p>
          <a:r>
            <a:rPr lang="en-US"/>
            <a:t>What will be completed today?</a:t>
          </a:r>
        </a:p>
      </dgm:t>
    </dgm:pt>
    <dgm:pt modelId="{89C4B4E9-4108-4E7D-B3F9-C3BBF4FF01B2}" type="parTrans" cxnId="{9EDB60F9-8358-4C98-91B5-3C8AA085F553}">
      <dgm:prSet/>
      <dgm:spPr/>
      <dgm:t>
        <a:bodyPr/>
        <a:lstStyle/>
        <a:p>
          <a:endParaRPr lang="en-US"/>
        </a:p>
      </dgm:t>
    </dgm:pt>
    <dgm:pt modelId="{E1745CE5-5BDA-48E6-9A4F-82D11C632DA9}" type="sibTrans" cxnId="{9EDB60F9-8358-4C98-91B5-3C8AA085F553}">
      <dgm:prSet/>
      <dgm:spPr/>
      <dgm:t>
        <a:bodyPr/>
        <a:lstStyle/>
        <a:p>
          <a:endParaRPr lang="en-US"/>
        </a:p>
      </dgm:t>
    </dgm:pt>
    <dgm:pt modelId="{D6FB1D91-E1ED-4E73-87B7-64DE49B629E9}">
      <dgm:prSet/>
      <dgm:spPr/>
      <dgm:t>
        <a:bodyPr/>
        <a:lstStyle/>
        <a:p>
          <a:r>
            <a:rPr lang="en-US"/>
            <a:t>What obstacles emerged?</a:t>
          </a:r>
        </a:p>
      </dgm:t>
    </dgm:pt>
    <dgm:pt modelId="{00777566-2587-45BA-ACBE-944A34F6DA56}" type="parTrans" cxnId="{A542DE4A-6F9E-4D50-ABD1-E1F6F5FD292A}">
      <dgm:prSet/>
      <dgm:spPr/>
      <dgm:t>
        <a:bodyPr/>
        <a:lstStyle/>
        <a:p>
          <a:endParaRPr lang="en-US"/>
        </a:p>
      </dgm:t>
    </dgm:pt>
    <dgm:pt modelId="{FC6BEA53-9243-4632-A7AB-CE4AA378B5AC}" type="sibTrans" cxnId="{A542DE4A-6F9E-4D50-ABD1-E1F6F5FD292A}">
      <dgm:prSet/>
      <dgm:spPr/>
      <dgm:t>
        <a:bodyPr/>
        <a:lstStyle/>
        <a:p>
          <a:endParaRPr lang="en-US"/>
        </a:p>
      </dgm:t>
    </dgm:pt>
    <dgm:pt modelId="{75D94470-25D8-4838-9E72-53C3962951E5}">
      <dgm:prSet/>
      <dgm:spPr/>
      <dgm:t>
        <a:bodyPr/>
        <a:lstStyle/>
        <a:p>
          <a:r>
            <a:rPr lang="en-US" dirty="0"/>
            <a:t>Example: When exploratory analysis revealed income distribution skewness of 26.252, immediate log transformation was applied within the same sprint, preventing downstream model corruption</a:t>
          </a:r>
        </a:p>
      </dgm:t>
    </dgm:pt>
    <dgm:pt modelId="{1687B527-12CA-4187-98F0-EB43E006001B}" type="parTrans" cxnId="{2CF139F3-7C5A-4F63-A77C-A35D1682A8C9}">
      <dgm:prSet/>
      <dgm:spPr/>
      <dgm:t>
        <a:bodyPr/>
        <a:lstStyle/>
        <a:p>
          <a:endParaRPr lang="en-US"/>
        </a:p>
      </dgm:t>
    </dgm:pt>
    <dgm:pt modelId="{917CB7B3-F248-436B-8762-F184B84EB50A}" type="sibTrans" cxnId="{2CF139F3-7C5A-4F63-A77C-A35D1682A8C9}">
      <dgm:prSet/>
      <dgm:spPr/>
      <dgm:t>
        <a:bodyPr/>
        <a:lstStyle/>
        <a:p>
          <a:endParaRPr lang="en-US"/>
        </a:p>
      </dgm:t>
    </dgm:pt>
    <dgm:pt modelId="{A7E48C2C-84F6-4F17-98BA-E5166C0773D0}">
      <dgm:prSet/>
      <dgm:spPr/>
      <dgm:t>
        <a:bodyPr/>
        <a:lstStyle/>
        <a:p>
          <a:r>
            <a:rPr lang="en-US"/>
            <a:t>Sprint Reviews (Every 2 weeks)</a:t>
          </a:r>
        </a:p>
      </dgm:t>
    </dgm:pt>
    <dgm:pt modelId="{93FD4C76-7984-4340-B02E-EA2146CDFF73}" type="parTrans" cxnId="{3731DD11-8074-44FC-A4A3-6D5B0216ACAD}">
      <dgm:prSet/>
      <dgm:spPr/>
      <dgm:t>
        <a:bodyPr/>
        <a:lstStyle/>
        <a:p>
          <a:endParaRPr lang="en-US"/>
        </a:p>
      </dgm:t>
    </dgm:pt>
    <dgm:pt modelId="{3BF82C57-3EC0-4DBC-B19C-0652F0F0C5AF}" type="sibTrans" cxnId="{3731DD11-8074-44FC-A4A3-6D5B0216ACAD}">
      <dgm:prSet phldrT="2"/>
      <dgm:spPr/>
      <dgm:t>
        <a:bodyPr/>
        <a:lstStyle/>
        <a:p>
          <a:r>
            <a:rPr lang="en-US"/>
            <a:t>2</a:t>
          </a:r>
        </a:p>
      </dgm:t>
    </dgm:pt>
    <dgm:pt modelId="{6EDEA300-E3DF-4579-B539-3C462BD02FD6}">
      <dgm:prSet/>
      <dgm:spPr/>
      <dgm:t>
        <a:bodyPr/>
        <a:lstStyle/>
        <a:p>
          <a:r>
            <a:rPr lang="en-US"/>
            <a:t>Demonstrated completed analysis to stakeholders</a:t>
          </a:r>
        </a:p>
      </dgm:t>
    </dgm:pt>
    <dgm:pt modelId="{2C204C2F-1A88-4484-B556-4C04623B7BD3}" type="parTrans" cxnId="{7C143072-3EB1-4BDE-B55B-18952C41361F}">
      <dgm:prSet/>
      <dgm:spPr/>
      <dgm:t>
        <a:bodyPr/>
        <a:lstStyle/>
        <a:p>
          <a:endParaRPr lang="en-US"/>
        </a:p>
      </dgm:t>
    </dgm:pt>
    <dgm:pt modelId="{FE49BF25-ABF6-43FE-A237-2C4599985097}" type="sibTrans" cxnId="{7C143072-3EB1-4BDE-B55B-18952C41361F}">
      <dgm:prSet/>
      <dgm:spPr/>
      <dgm:t>
        <a:bodyPr/>
        <a:lstStyle/>
        <a:p>
          <a:endParaRPr lang="en-US"/>
        </a:p>
      </dgm:t>
    </dgm:pt>
    <dgm:pt modelId="{5F354590-B0E4-4A92-ADBE-1D8C29AEF653}">
      <dgm:prSet/>
      <dgm:spPr/>
      <dgm:t>
        <a:bodyPr/>
        <a:lstStyle/>
        <a:p>
          <a:r>
            <a:rPr lang="en-US"/>
            <a:t>Gathered feedback on preliminary findings</a:t>
          </a:r>
        </a:p>
      </dgm:t>
    </dgm:pt>
    <dgm:pt modelId="{90787FE6-2653-4BB8-82E2-48794A16935B}" type="parTrans" cxnId="{B425E42A-0200-4F28-B997-9F0293F59E40}">
      <dgm:prSet/>
      <dgm:spPr/>
      <dgm:t>
        <a:bodyPr/>
        <a:lstStyle/>
        <a:p>
          <a:endParaRPr lang="en-US"/>
        </a:p>
      </dgm:t>
    </dgm:pt>
    <dgm:pt modelId="{35998D7D-480E-4736-859C-3D2F88A25D90}" type="sibTrans" cxnId="{B425E42A-0200-4F28-B997-9F0293F59E40}">
      <dgm:prSet/>
      <dgm:spPr/>
      <dgm:t>
        <a:bodyPr/>
        <a:lstStyle/>
        <a:p>
          <a:endParaRPr lang="en-US"/>
        </a:p>
      </dgm:t>
    </dgm:pt>
    <dgm:pt modelId="{8C062D5E-C3C2-4F38-B49A-2A6DB2789FEF}">
      <dgm:prSet/>
      <dgm:spPr/>
      <dgm:t>
        <a:bodyPr/>
        <a:lstStyle/>
        <a:p>
          <a:r>
            <a:rPr lang="en-US"/>
            <a:t>Example: Payment delay analysis sprint review showed Kruskal-Wallis results and boxplots; stakeholders asked "Can you compare all three score pairs?", prompting Dunn's post-hoc tests</a:t>
          </a:r>
        </a:p>
      </dgm:t>
    </dgm:pt>
    <dgm:pt modelId="{0A90B4FB-04C2-41CD-9DAA-D5D027B9E21D}" type="parTrans" cxnId="{A703B3A9-D344-4454-A5E4-F3E4F9496A20}">
      <dgm:prSet/>
      <dgm:spPr/>
      <dgm:t>
        <a:bodyPr/>
        <a:lstStyle/>
        <a:p>
          <a:endParaRPr lang="en-US"/>
        </a:p>
      </dgm:t>
    </dgm:pt>
    <dgm:pt modelId="{CA38606B-3C78-4548-B574-35E77AD1657A}" type="sibTrans" cxnId="{A703B3A9-D344-4454-A5E4-F3E4F9496A20}">
      <dgm:prSet/>
      <dgm:spPr/>
      <dgm:t>
        <a:bodyPr/>
        <a:lstStyle/>
        <a:p>
          <a:endParaRPr lang="en-US"/>
        </a:p>
      </dgm:t>
    </dgm:pt>
    <dgm:pt modelId="{880B399D-3CEC-4168-B08D-9CF17C47D56A}">
      <dgm:prSet/>
      <dgm:spPr/>
      <dgm:t>
        <a:bodyPr/>
        <a:lstStyle/>
        <a:p>
          <a:r>
            <a:rPr lang="en-US"/>
            <a:t>Sprint Retrospectives (Every 2 weeks)</a:t>
          </a:r>
        </a:p>
      </dgm:t>
    </dgm:pt>
    <dgm:pt modelId="{D7C17FC5-D75E-4C30-A3A2-44934C89646E}" type="parTrans" cxnId="{439CAAB7-18F9-480E-9563-9BE539D9B904}">
      <dgm:prSet/>
      <dgm:spPr/>
      <dgm:t>
        <a:bodyPr/>
        <a:lstStyle/>
        <a:p>
          <a:endParaRPr lang="en-US"/>
        </a:p>
      </dgm:t>
    </dgm:pt>
    <dgm:pt modelId="{FBC94080-831A-465F-B374-EA5E11CF7959}" type="sibTrans" cxnId="{439CAAB7-18F9-480E-9563-9BE539D9B904}">
      <dgm:prSet phldrT="3"/>
      <dgm:spPr/>
      <dgm:t>
        <a:bodyPr/>
        <a:lstStyle/>
        <a:p>
          <a:r>
            <a:rPr lang="en-US"/>
            <a:t>3</a:t>
          </a:r>
        </a:p>
      </dgm:t>
    </dgm:pt>
    <dgm:pt modelId="{196E6C13-B8BA-498F-854F-28B70FFFC947}">
      <dgm:prSet/>
      <dgm:spPr/>
      <dgm:t>
        <a:bodyPr/>
        <a:lstStyle/>
        <a:p>
          <a:r>
            <a:rPr lang="en-US"/>
            <a:t>Reflected on what worked, what didn't</a:t>
          </a:r>
        </a:p>
      </dgm:t>
    </dgm:pt>
    <dgm:pt modelId="{425BAAE8-5128-479A-9265-104392FD0A68}" type="parTrans" cxnId="{5743EBFA-2338-4D9B-9F8F-7059F8558669}">
      <dgm:prSet/>
      <dgm:spPr/>
      <dgm:t>
        <a:bodyPr/>
        <a:lstStyle/>
        <a:p>
          <a:endParaRPr lang="en-US"/>
        </a:p>
      </dgm:t>
    </dgm:pt>
    <dgm:pt modelId="{87B0CF5D-8D37-484E-A41C-46CFA509917F}" type="sibTrans" cxnId="{5743EBFA-2338-4D9B-9F8F-7059F8558669}">
      <dgm:prSet/>
      <dgm:spPr/>
      <dgm:t>
        <a:bodyPr/>
        <a:lstStyle/>
        <a:p>
          <a:endParaRPr lang="en-US"/>
        </a:p>
      </dgm:t>
    </dgm:pt>
    <dgm:pt modelId="{AAECDE8E-9BE6-44B0-8067-AFF48783B8A3}">
      <dgm:prSet/>
      <dgm:spPr/>
      <dgm:t>
        <a:bodyPr/>
        <a:lstStyle/>
        <a:p>
          <a:r>
            <a:rPr lang="en-US"/>
            <a:t>Accumulated lessons over project lifecycle</a:t>
          </a:r>
        </a:p>
      </dgm:t>
    </dgm:pt>
    <dgm:pt modelId="{4DBB07B6-5E29-4669-BCB0-93766D0A7CD3}" type="parTrans" cxnId="{DAAA7ED6-93E5-406D-AAA9-BDA68D990E5C}">
      <dgm:prSet/>
      <dgm:spPr/>
      <dgm:t>
        <a:bodyPr/>
        <a:lstStyle/>
        <a:p>
          <a:endParaRPr lang="en-US"/>
        </a:p>
      </dgm:t>
    </dgm:pt>
    <dgm:pt modelId="{9AE4F108-0C21-4E5F-8ACD-CE9E4D59E07E}" type="sibTrans" cxnId="{DAAA7ED6-93E5-406D-AAA9-BDA68D990E5C}">
      <dgm:prSet/>
      <dgm:spPr/>
      <dgm:t>
        <a:bodyPr/>
        <a:lstStyle/>
        <a:p>
          <a:endParaRPr lang="en-US"/>
        </a:p>
      </dgm:t>
    </dgm:pt>
    <dgm:pt modelId="{7749FBFE-84AC-4E8F-BC2D-A5BDE5538B0D}">
      <dgm:prSet/>
      <dgm:spPr/>
      <dgm:t>
        <a:bodyPr/>
        <a:lstStyle/>
        <a:p>
          <a:r>
            <a:rPr lang="en-US"/>
            <a:t>Example: "Small sprints enabled early detection of data quality issues; peer code review caught calculation errors; need visualization templates earlier"</a:t>
          </a:r>
        </a:p>
      </dgm:t>
    </dgm:pt>
    <dgm:pt modelId="{714586FE-C002-427D-A393-5E8A9FDD149D}" type="parTrans" cxnId="{9E9C7A9D-A8DC-4779-9B14-0293E1142E7B}">
      <dgm:prSet/>
      <dgm:spPr/>
      <dgm:t>
        <a:bodyPr/>
        <a:lstStyle/>
        <a:p>
          <a:endParaRPr lang="en-US"/>
        </a:p>
      </dgm:t>
    </dgm:pt>
    <dgm:pt modelId="{50D9306C-E8C6-4F7C-ADD3-2D266A6016E3}" type="sibTrans" cxnId="{9E9C7A9D-A8DC-4779-9B14-0293E1142E7B}">
      <dgm:prSet/>
      <dgm:spPr/>
      <dgm:t>
        <a:bodyPr/>
        <a:lstStyle/>
        <a:p>
          <a:endParaRPr lang="en-US"/>
        </a:p>
      </dgm:t>
    </dgm:pt>
    <dgm:pt modelId="{B3BDAF25-0C0D-44F3-B8A6-8ABCA3BE2309}" type="pres">
      <dgm:prSet presAssocID="{964A238F-E73E-415C-957D-0715F26194FD}" presName="Name0" presStyleCnt="0">
        <dgm:presLayoutVars>
          <dgm:animLvl val="lvl"/>
          <dgm:resizeHandles val="exact"/>
        </dgm:presLayoutVars>
      </dgm:prSet>
      <dgm:spPr/>
    </dgm:pt>
    <dgm:pt modelId="{0B6B2A25-69B7-4EB1-A8E8-B36346BB5171}" type="pres">
      <dgm:prSet presAssocID="{2A7D84CE-2579-4443-8FF3-1FED0C67E51D}" presName="compositeNode" presStyleCnt="0">
        <dgm:presLayoutVars>
          <dgm:bulletEnabled val="1"/>
        </dgm:presLayoutVars>
      </dgm:prSet>
      <dgm:spPr/>
    </dgm:pt>
    <dgm:pt modelId="{0F50F91C-1E3B-47CD-BBB4-56EA52C4A745}" type="pres">
      <dgm:prSet presAssocID="{2A7D84CE-2579-4443-8FF3-1FED0C67E51D}" presName="bgRect" presStyleLbl="bgAccFollowNode1" presStyleIdx="0" presStyleCnt="3"/>
      <dgm:spPr/>
    </dgm:pt>
    <dgm:pt modelId="{AACADA96-9171-4101-A366-C64E4A95F181}" type="pres">
      <dgm:prSet presAssocID="{821292D9-FD54-41CE-AED9-D4E1445A9CCB}" presName="sibTransNodeCircle" presStyleLbl="alignNode1" presStyleIdx="0" presStyleCnt="6">
        <dgm:presLayoutVars>
          <dgm:chMax val="0"/>
          <dgm:bulletEnabled/>
        </dgm:presLayoutVars>
      </dgm:prSet>
      <dgm:spPr/>
    </dgm:pt>
    <dgm:pt modelId="{13E89D1A-EF15-471A-ABD1-E070E366D56C}" type="pres">
      <dgm:prSet presAssocID="{2A7D84CE-2579-4443-8FF3-1FED0C67E51D}" presName="bottomLine" presStyleLbl="alignNode1" presStyleIdx="1" presStyleCnt="6">
        <dgm:presLayoutVars/>
      </dgm:prSet>
      <dgm:spPr/>
    </dgm:pt>
    <dgm:pt modelId="{69CB20D7-D3AC-4A52-B82F-E45F816561B5}" type="pres">
      <dgm:prSet presAssocID="{2A7D84CE-2579-4443-8FF3-1FED0C67E51D}" presName="nodeText" presStyleLbl="bgAccFollowNode1" presStyleIdx="0" presStyleCnt="3">
        <dgm:presLayoutVars>
          <dgm:bulletEnabled val="1"/>
        </dgm:presLayoutVars>
      </dgm:prSet>
      <dgm:spPr/>
    </dgm:pt>
    <dgm:pt modelId="{30249322-7918-4E09-B89A-294C25672D18}" type="pres">
      <dgm:prSet presAssocID="{821292D9-FD54-41CE-AED9-D4E1445A9CCB}" presName="sibTrans" presStyleCnt="0"/>
      <dgm:spPr/>
    </dgm:pt>
    <dgm:pt modelId="{DAE446C9-9B09-41FA-A952-4DE4E0CC916C}" type="pres">
      <dgm:prSet presAssocID="{A7E48C2C-84F6-4F17-98BA-E5166C0773D0}" presName="compositeNode" presStyleCnt="0">
        <dgm:presLayoutVars>
          <dgm:bulletEnabled val="1"/>
        </dgm:presLayoutVars>
      </dgm:prSet>
      <dgm:spPr/>
    </dgm:pt>
    <dgm:pt modelId="{D7C9FAB8-2718-4E0A-B7B3-3A7C2FCCD253}" type="pres">
      <dgm:prSet presAssocID="{A7E48C2C-84F6-4F17-98BA-E5166C0773D0}" presName="bgRect" presStyleLbl="bgAccFollowNode1" presStyleIdx="1" presStyleCnt="3"/>
      <dgm:spPr/>
    </dgm:pt>
    <dgm:pt modelId="{759777A7-4928-4DEF-9AB4-4EAF750F1446}" type="pres">
      <dgm:prSet presAssocID="{3BF82C57-3EC0-4DBC-B19C-0652F0F0C5AF}" presName="sibTransNodeCircle" presStyleLbl="alignNode1" presStyleIdx="2" presStyleCnt="6">
        <dgm:presLayoutVars>
          <dgm:chMax val="0"/>
          <dgm:bulletEnabled/>
        </dgm:presLayoutVars>
      </dgm:prSet>
      <dgm:spPr/>
    </dgm:pt>
    <dgm:pt modelId="{C8861348-883D-4A89-9672-52A8E9A3CEAA}" type="pres">
      <dgm:prSet presAssocID="{A7E48C2C-84F6-4F17-98BA-E5166C0773D0}" presName="bottomLine" presStyleLbl="alignNode1" presStyleIdx="3" presStyleCnt="6">
        <dgm:presLayoutVars/>
      </dgm:prSet>
      <dgm:spPr/>
    </dgm:pt>
    <dgm:pt modelId="{F0CBD4C7-88A4-4510-A4AD-EC431CB5AE04}" type="pres">
      <dgm:prSet presAssocID="{A7E48C2C-84F6-4F17-98BA-E5166C0773D0}" presName="nodeText" presStyleLbl="bgAccFollowNode1" presStyleIdx="1" presStyleCnt="3">
        <dgm:presLayoutVars>
          <dgm:bulletEnabled val="1"/>
        </dgm:presLayoutVars>
      </dgm:prSet>
      <dgm:spPr/>
    </dgm:pt>
    <dgm:pt modelId="{F9522255-77E4-464C-94E1-8D0D00896C98}" type="pres">
      <dgm:prSet presAssocID="{3BF82C57-3EC0-4DBC-B19C-0652F0F0C5AF}" presName="sibTrans" presStyleCnt="0"/>
      <dgm:spPr/>
    </dgm:pt>
    <dgm:pt modelId="{FC8EF86C-9539-4F08-805A-EDBAD9C0F7F0}" type="pres">
      <dgm:prSet presAssocID="{880B399D-3CEC-4168-B08D-9CF17C47D56A}" presName="compositeNode" presStyleCnt="0">
        <dgm:presLayoutVars>
          <dgm:bulletEnabled val="1"/>
        </dgm:presLayoutVars>
      </dgm:prSet>
      <dgm:spPr/>
    </dgm:pt>
    <dgm:pt modelId="{2CE9D8F9-B237-4766-A1F6-C873AE2FEAE1}" type="pres">
      <dgm:prSet presAssocID="{880B399D-3CEC-4168-B08D-9CF17C47D56A}" presName="bgRect" presStyleLbl="bgAccFollowNode1" presStyleIdx="2" presStyleCnt="3"/>
      <dgm:spPr/>
    </dgm:pt>
    <dgm:pt modelId="{FA2B7FF9-D288-4E9B-BE5F-68EC9580D4DA}" type="pres">
      <dgm:prSet presAssocID="{FBC94080-831A-465F-B374-EA5E11CF7959}" presName="sibTransNodeCircle" presStyleLbl="alignNode1" presStyleIdx="4" presStyleCnt="6">
        <dgm:presLayoutVars>
          <dgm:chMax val="0"/>
          <dgm:bulletEnabled/>
        </dgm:presLayoutVars>
      </dgm:prSet>
      <dgm:spPr/>
    </dgm:pt>
    <dgm:pt modelId="{2443B340-21F5-4299-8CB3-88817F9195F6}" type="pres">
      <dgm:prSet presAssocID="{880B399D-3CEC-4168-B08D-9CF17C47D56A}" presName="bottomLine" presStyleLbl="alignNode1" presStyleIdx="5" presStyleCnt="6">
        <dgm:presLayoutVars/>
      </dgm:prSet>
      <dgm:spPr/>
    </dgm:pt>
    <dgm:pt modelId="{68842A69-789B-487C-A280-04D9520A670D}" type="pres">
      <dgm:prSet presAssocID="{880B399D-3CEC-4168-B08D-9CF17C47D56A}" presName="nodeText" presStyleLbl="bgAccFollowNode1" presStyleIdx="2" presStyleCnt="3">
        <dgm:presLayoutVars>
          <dgm:bulletEnabled val="1"/>
        </dgm:presLayoutVars>
      </dgm:prSet>
      <dgm:spPr/>
    </dgm:pt>
  </dgm:ptLst>
  <dgm:cxnLst>
    <dgm:cxn modelId="{3731DD11-8074-44FC-A4A3-6D5B0216ACAD}" srcId="{964A238F-E73E-415C-957D-0715F26194FD}" destId="{A7E48C2C-84F6-4F17-98BA-E5166C0773D0}" srcOrd="1" destOrd="0" parTransId="{93FD4C76-7984-4340-B02E-EA2146CDFF73}" sibTransId="{3BF82C57-3EC0-4DBC-B19C-0652F0F0C5AF}"/>
    <dgm:cxn modelId="{AFADFE11-13C1-456E-BD22-3856189FFDD3}" type="presOf" srcId="{2A7D84CE-2579-4443-8FF3-1FED0C67E51D}" destId="{0F50F91C-1E3B-47CD-BBB4-56EA52C4A745}" srcOrd="0" destOrd="0" presId="urn:microsoft.com/office/officeart/2016/7/layout/BasicLinearProcessNumbered"/>
    <dgm:cxn modelId="{B425E42A-0200-4F28-B997-9F0293F59E40}" srcId="{A7E48C2C-84F6-4F17-98BA-E5166C0773D0}" destId="{5F354590-B0E4-4A92-ADBE-1D8C29AEF653}" srcOrd="1" destOrd="0" parTransId="{90787FE6-2653-4BB8-82E2-48794A16935B}" sibTransId="{35998D7D-480E-4736-859C-3D2F88A25D90}"/>
    <dgm:cxn modelId="{93D6E665-BC4F-4DAF-BC5F-73282845D86B}" type="presOf" srcId="{880B399D-3CEC-4168-B08D-9CF17C47D56A}" destId="{68842A69-789B-487C-A280-04D9520A670D}" srcOrd="1" destOrd="0" presId="urn:microsoft.com/office/officeart/2016/7/layout/BasicLinearProcessNumbered"/>
    <dgm:cxn modelId="{80B4464A-D804-4CCC-8C15-669C864C6D11}" srcId="{2A7D84CE-2579-4443-8FF3-1FED0C67E51D}" destId="{2C4F29FC-7D70-461C-ACC2-7CE16392EE23}" srcOrd="0" destOrd="0" parTransId="{065AE3E3-6098-4AF1-AF5A-E212C79B8842}" sibTransId="{A0D7AA8F-EACF-452A-95C9-C9BE6C482D41}"/>
    <dgm:cxn modelId="{A542DE4A-6F9E-4D50-ABD1-E1F6F5FD292A}" srcId="{2A7D84CE-2579-4443-8FF3-1FED0C67E51D}" destId="{D6FB1D91-E1ED-4E73-87B7-64DE49B629E9}" srcOrd="2" destOrd="0" parTransId="{00777566-2587-45BA-ACBE-944A34F6DA56}" sibTransId="{FC6BEA53-9243-4632-A7AB-CE4AA378B5AC}"/>
    <dgm:cxn modelId="{6085664D-CB0D-45EA-8E7C-1F747A49EE4A}" type="presOf" srcId="{196E6C13-B8BA-498F-854F-28B70FFFC947}" destId="{68842A69-789B-487C-A280-04D9520A670D}" srcOrd="0" destOrd="1" presId="urn:microsoft.com/office/officeart/2016/7/layout/BasicLinearProcessNumbered"/>
    <dgm:cxn modelId="{0239AC4F-A4FF-438F-91FB-CBCF4EBA39D9}" type="presOf" srcId="{6EDEA300-E3DF-4579-B539-3C462BD02FD6}" destId="{F0CBD4C7-88A4-4510-A4AD-EC431CB5AE04}" srcOrd="0" destOrd="1" presId="urn:microsoft.com/office/officeart/2016/7/layout/BasicLinearProcessNumbered"/>
    <dgm:cxn modelId="{7C143072-3EB1-4BDE-B55B-18952C41361F}" srcId="{A7E48C2C-84F6-4F17-98BA-E5166C0773D0}" destId="{6EDEA300-E3DF-4579-B539-3C462BD02FD6}" srcOrd="0" destOrd="0" parTransId="{2C204C2F-1A88-4484-B556-4C04623B7BD3}" sibTransId="{FE49BF25-ABF6-43FE-A237-2C4599985097}"/>
    <dgm:cxn modelId="{D271F475-13B4-476C-AE7F-DCC237E1C92B}" type="presOf" srcId="{2A7D84CE-2579-4443-8FF3-1FED0C67E51D}" destId="{69CB20D7-D3AC-4A52-B82F-E45F816561B5}" srcOrd="1" destOrd="0" presId="urn:microsoft.com/office/officeart/2016/7/layout/BasicLinearProcessNumbered"/>
    <dgm:cxn modelId="{66808159-A809-4D11-9EAA-86AAF70E3F1E}" type="presOf" srcId="{7749FBFE-84AC-4E8F-BC2D-A5BDE5538B0D}" destId="{68842A69-789B-487C-A280-04D9520A670D}" srcOrd="0" destOrd="3" presId="urn:microsoft.com/office/officeart/2016/7/layout/BasicLinearProcessNumbered"/>
    <dgm:cxn modelId="{CE50307E-94A3-4D7F-893C-BA72D12F5B5D}" type="presOf" srcId="{AAECDE8E-9BE6-44B0-8067-AFF48783B8A3}" destId="{68842A69-789B-487C-A280-04D9520A670D}" srcOrd="0" destOrd="2" presId="urn:microsoft.com/office/officeart/2016/7/layout/BasicLinearProcessNumbered"/>
    <dgm:cxn modelId="{3E2F9A92-4D6F-430D-B9C0-EFE416A0DC97}" type="presOf" srcId="{A7E48C2C-84F6-4F17-98BA-E5166C0773D0}" destId="{D7C9FAB8-2718-4E0A-B7B3-3A7C2FCCD253}" srcOrd="0" destOrd="0" presId="urn:microsoft.com/office/officeart/2016/7/layout/BasicLinearProcessNumbered"/>
    <dgm:cxn modelId="{18F67195-80F7-47B8-A571-73B69CEC5D7D}" type="presOf" srcId="{FBC94080-831A-465F-B374-EA5E11CF7959}" destId="{FA2B7FF9-D288-4E9B-BE5F-68EC9580D4DA}" srcOrd="0" destOrd="0" presId="urn:microsoft.com/office/officeart/2016/7/layout/BasicLinearProcessNumbered"/>
    <dgm:cxn modelId="{59E81399-AB2D-44B5-8F1E-759D9AFCDC39}" type="presOf" srcId="{067C5A73-4F7D-4A2C-B602-88A9F57AE2F6}" destId="{69CB20D7-D3AC-4A52-B82F-E45F816561B5}" srcOrd="0" destOrd="2" presId="urn:microsoft.com/office/officeart/2016/7/layout/BasicLinearProcessNumbered"/>
    <dgm:cxn modelId="{9E9C7A9D-A8DC-4779-9B14-0293E1142E7B}" srcId="{880B399D-3CEC-4168-B08D-9CF17C47D56A}" destId="{7749FBFE-84AC-4E8F-BC2D-A5BDE5538B0D}" srcOrd="2" destOrd="0" parTransId="{714586FE-C002-427D-A393-5E8A9FDD149D}" sibTransId="{50D9306C-E8C6-4F7C-ADD3-2D266A6016E3}"/>
    <dgm:cxn modelId="{75FBE69D-EAB6-448A-8404-9CE8BFB70D39}" type="presOf" srcId="{964A238F-E73E-415C-957D-0715F26194FD}" destId="{B3BDAF25-0C0D-44F3-B8A6-8ABCA3BE2309}" srcOrd="0" destOrd="0" presId="urn:microsoft.com/office/officeart/2016/7/layout/BasicLinearProcessNumbered"/>
    <dgm:cxn modelId="{5DABD6A0-23AC-4C89-84F9-491E98E644FB}" type="presOf" srcId="{5F354590-B0E4-4A92-ADBE-1D8C29AEF653}" destId="{F0CBD4C7-88A4-4510-A4AD-EC431CB5AE04}" srcOrd="0" destOrd="2" presId="urn:microsoft.com/office/officeart/2016/7/layout/BasicLinearProcessNumbered"/>
    <dgm:cxn modelId="{A703B3A9-D344-4454-A5E4-F3E4F9496A20}" srcId="{A7E48C2C-84F6-4F17-98BA-E5166C0773D0}" destId="{8C062D5E-C3C2-4F38-B49A-2A6DB2789FEF}" srcOrd="2" destOrd="0" parTransId="{0A90B4FB-04C2-41CD-9DAA-D5D027B9E21D}" sibTransId="{CA38606B-3C78-4548-B574-35E77AD1657A}"/>
    <dgm:cxn modelId="{A57D27B1-CA94-4122-AF7A-E56499571055}" type="presOf" srcId="{A7E48C2C-84F6-4F17-98BA-E5166C0773D0}" destId="{F0CBD4C7-88A4-4510-A4AD-EC431CB5AE04}" srcOrd="1" destOrd="0" presId="urn:microsoft.com/office/officeart/2016/7/layout/BasicLinearProcessNumbered"/>
    <dgm:cxn modelId="{E602F8B3-6139-4E60-BB50-43228DBC6379}" type="presOf" srcId="{8C062D5E-C3C2-4F38-B49A-2A6DB2789FEF}" destId="{F0CBD4C7-88A4-4510-A4AD-EC431CB5AE04}" srcOrd="0" destOrd="3" presId="urn:microsoft.com/office/officeart/2016/7/layout/BasicLinearProcessNumbered"/>
    <dgm:cxn modelId="{5219ACB4-EBD4-493C-A388-2DD114558DC4}" type="presOf" srcId="{821292D9-FD54-41CE-AED9-D4E1445A9CCB}" destId="{AACADA96-9171-4101-A366-C64E4A95F181}" srcOrd="0" destOrd="0" presId="urn:microsoft.com/office/officeart/2016/7/layout/BasicLinearProcessNumbered"/>
    <dgm:cxn modelId="{D28763B7-5BE7-4761-BDAF-0787247327D7}" type="presOf" srcId="{2C4F29FC-7D70-461C-ACC2-7CE16392EE23}" destId="{69CB20D7-D3AC-4A52-B82F-E45F816561B5}" srcOrd="0" destOrd="1" presId="urn:microsoft.com/office/officeart/2016/7/layout/BasicLinearProcessNumbered"/>
    <dgm:cxn modelId="{439CAAB7-18F9-480E-9563-9BE539D9B904}" srcId="{964A238F-E73E-415C-957D-0715F26194FD}" destId="{880B399D-3CEC-4168-B08D-9CF17C47D56A}" srcOrd="2" destOrd="0" parTransId="{D7C17FC5-D75E-4C30-A3A2-44934C89646E}" sibTransId="{FBC94080-831A-465F-B374-EA5E11CF7959}"/>
    <dgm:cxn modelId="{74F82FBB-283A-42FA-AB94-6E5BDC7BAF53}" type="presOf" srcId="{D6FB1D91-E1ED-4E73-87B7-64DE49B629E9}" destId="{69CB20D7-D3AC-4A52-B82F-E45F816561B5}" srcOrd="0" destOrd="3" presId="urn:microsoft.com/office/officeart/2016/7/layout/BasicLinearProcessNumbered"/>
    <dgm:cxn modelId="{C3D592BC-5365-43DE-9C02-E7CF572B3BC6}" type="presOf" srcId="{880B399D-3CEC-4168-B08D-9CF17C47D56A}" destId="{2CE9D8F9-B237-4766-A1F6-C873AE2FEAE1}" srcOrd="0" destOrd="0" presId="urn:microsoft.com/office/officeart/2016/7/layout/BasicLinearProcessNumbered"/>
    <dgm:cxn modelId="{DAAA7ED6-93E5-406D-AAA9-BDA68D990E5C}" srcId="{880B399D-3CEC-4168-B08D-9CF17C47D56A}" destId="{AAECDE8E-9BE6-44B0-8067-AFF48783B8A3}" srcOrd="1" destOrd="0" parTransId="{4DBB07B6-5E29-4669-BCB0-93766D0A7CD3}" sibTransId="{9AE4F108-0C21-4E5F-8ACD-CE9E4D59E07E}"/>
    <dgm:cxn modelId="{C3963CE9-6482-46AD-9B69-643C9C166040}" type="presOf" srcId="{75D94470-25D8-4838-9E72-53C3962951E5}" destId="{69CB20D7-D3AC-4A52-B82F-E45F816561B5}" srcOrd="0" destOrd="4" presId="urn:microsoft.com/office/officeart/2016/7/layout/BasicLinearProcessNumbered"/>
    <dgm:cxn modelId="{862794EC-93CD-464D-A590-24B7BC988066}" type="presOf" srcId="{3BF82C57-3EC0-4DBC-B19C-0652F0F0C5AF}" destId="{759777A7-4928-4DEF-9AB4-4EAF750F1446}" srcOrd="0" destOrd="0" presId="urn:microsoft.com/office/officeart/2016/7/layout/BasicLinearProcessNumbered"/>
    <dgm:cxn modelId="{2CF139F3-7C5A-4F63-A77C-A35D1682A8C9}" srcId="{2A7D84CE-2579-4443-8FF3-1FED0C67E51D}" destId="{75D94470-25D8-4838-9E72-53C3962951E5}" srcOrd="3" destOrd="0" parTransId="{1687B527-12CA-4187-98F0-EB43E006001B}" sibTransId="{917CB7B3-F248-436B-8762-F184B84EB50A}"/>
    <dgm:cxn modelId="{C12B5FF9-64B0-4D00-9E97-B3633F06800E}" srcId="{964A238F-E73E-415C-957D-0715F26194FD}" destId="{2A7D84CE-2579-4443-8FF3-1FED0C67E51D}" srcOrd="0" destOrd="0" parTransId="{15756D51-975C-4317-B767-9AA93D6029CF}" sibTransId="{821292D9-FD54-41CE-AED9-D4E1445A9CCB}"/>
    <dgm:cxn modelId="{9EDB60F9-8358-4C98-91B5-3C8AA085F553}" srcId="{2A7D84CE-2579-4443-8FF3-1FED0C67E51D}" destId="{067C5A73-4F7D-4A2C-B602-88A9F57AE2F6}" srcOrd="1" destOrd="0" parTransId="{89C4B4E9-4108-4E7D-B3F9-C3BBF4FF01B2}" sibTransId="{E1745CE5-5BDA-48E6-9A4F-82D11C632DA9}"/>
    <dgm:cxn modelId="{5743EBFA-2338-4D9B-9F8F-7059F8558669}" srcId="{880B399D-3CEC-4168-B08D-9CF17C47D56A}" destId="{196E6C13-B8BA-498F-854F-28B70FFFC947}" srcOrd="0" destOrd="0" parTransId="{425BAAE8-5128-479A-9265-104392FD0A68}" sibTransId="{87B0CF5D-8D37-484E-A41C-46CFA509917F}"/>
    <dgm:cxn modelId="{AA2BAC69-265C-4B1A-99AC-C8570D4BAC37}" type="presParOf" srcId="{B3BDAF25-0C0D-44F3-B8A6-8ABCA3BE2309}" destId="{0B6B2A25-69B7-4EB1-A8E8-B36346BB5171}" srcOrd="0" destOrd="0" presId="urn:microsoft.com/office/officeart/2016/7/layout/BasicLinearProcessNumbered"/>
    <dgm:cxn modelId="{36588D15-8A6E-4592-89E4-00DF0ADDCC9B}" type="presParOf" srcId="{0B6B2A25-69B7-4EB1-A8E8-B36346BB5171}" destId="{0F50F91C-1E3B-47CD-BBB4-56EA52C4A745}" srcOrd="0" destOrd="0" presId="urn:microsoft.com/office/officeart/2016/7/layout/BasicLinearProcessNumbered"/>
    <dgm:cxn modelId="{E882FD1B-5647-4AE1-B05D-40AC5B621DCF}" type="presParOf" srcId="{0B6B2A25-69B7-4EB1-A8E8-B36346BB5171}" destId="{AACADA96-9171-4101-A366-C64E4A95F181}" srcOrd="1" destOrd="0" presId="urn:microsoft.com/office/officeart/2016/7/layout/BasicLinearProcessNumbered"/>
    <dgm:cxn modelId="{25843974-85B1-4D92-ADE6-787F328C5987}" type="presParOf" srcId="{0B6B2A25-69B7-4EB1-A8E8-B36346BB5171}" destId="{13E89D1A-EF15-471A-ABD1-E070E366D56C}" srcOrd="2" destOrd="0" presId="urn:microsoft.com/office/officeart/2016/7/layout/BasicLinearProcessNumbered"/>
    <dgm:cxn modelId="{52AF34E3-6230-4037-B21D-F573C252D013}" type="presParOf" srcId="{0B6B2A25-69B7-4EB1-A8E8-B36346BB5171}" destId="{69CB20D7-D3AC-4A52-B82F-E45F816561B5}" srcOrd="3" destOrd="0" presId="urn:microsoft.com/office/officeart/2016/7/layout/BasicLinearProcessNumbered"/>
    <dgm:cxn modelId="{DAED6C98-D238-483D-822A-4B03BCFB030C}" type="presParOf" srcId="{B3BDAF25-0C0D-44F3-B8A6-8ABCA3BE2309}" destId="{30249322-7918-4E09-B89A-294C25672D18}" srcOrd="1" destOrd="0" presId="urn:microsoft.com/office/officeart/2016/7/layout/BasicLinearProcessNumbered"/>
    <dgm:cxn modelId="{02202E2F-6038-4D8A-8841-4A02A3780452}" type="presParOf" srcId="{B3BDAF25-0C0D-44F3-B8A6-8ABCA3BE2309}" destId="{DAE446C9-9B09-41FA-A952-4DE4E0CC916C}" srcOrd="2" destOrd="0" presId="urn:microsoft.com/office/officeart/2016/7/layout/BasicLinearProcessNumbered"/>
    <dgm:cxn modelId="{436B1136-A6C6-4107-B6AF-4C765596F0EB}" type="presParOf" srcId="{DAE446C9-9B09-41FA-A952-4DE4E0CC916C}" destId="{D7C9FAB8-2718-4E0A-B7B3-3A7C2FCCD253}" srcOrd="0" destOrd="0" presId="urn:microsoft.com/office/officeart/2016/7/layout/BasicLinearProcessNumbered"/>
    <dgm:cxn modelId="{8641E477-EE01-49D6-9525-6C5AF8002078}" type="presParOf" srcId="{DAE446C9-9B09-41FA-A952-4DE4E0CC916C}" destId="{759777A7-4928-4DEF-9AB4-4EAF750F1446}" srcOrd="1" destOrd="0" presId="urn:microsoft.com/office/officeart/2016/7/layout/BasicLinearProcessNumbered"/>
    <dgm:cxn modelId="{7F71F12A-A876-45CC-8183-0B9D270672D1}" type="presParOf" srcId="{DAE446C9-9B09-41FA-A952-4DE4E0CC916C}" destId="{C8861348-883D-4A89-9672-52A8E9A3CEAA}" srcOrd="2" destOrd="0" presId="urn:microsoft.com/office/officeart/2016/7/layout/BasicLinearProcessNumbered"/>
    <dgm:cxn modelId="{6C2BEA6D-1760-479B-B048-E939F7FEE85D}" type="presParOf" srcId="{DAE446C9-9B09-41FA-A952-4DE4E0CC916C}" destId="{F0CBD4C7-88A4-4510-A4AD-EC431CB5AE04}" srcOrd="3" destOrd="0" presId="urn:microsoft.com/office/officeart/2016/7/layout/BasicLinearProcessNumbered"/>
    <dgm:cxn modelId="{57D3EEB0-3F35-4AAE-9FA7-7B0F7D0D61D3}" type="presParOf" srcId="{B3BDAF25-0C0D-44F3-B8A6-8ABCA3BE2309}" destId="{F9522255-77E4-464C-94E1-8D0D00896C98}" srcOrd="3" destOrd="0" presId="urn:microsoft.com/office/officeart/2016/7/layout/BasicLinearProcessNumbered"/>
    <dgm:cxn modelId="{B2502856-75EF-4976-AA1C-82A9FDEFFEAF}" type="presParOf" srcId="{B3BDAF25-0C0D-44F3-B8A6-8ABCA3BE2309}" destId="{FC8EF86C-9539-4F08-805A-EDBAD9C0F7F0}" srcOrd="4" destOrd="0" presId="urn:microsoft.com/office/officeart/2016/7/layout/BasicLinearProcessNumbered"/>
    <dgm:cxn modelId="{91CAC2E1-8C14-496C-A74D-121A30F28C85}" type="presParOf" srcId="{FC8EF86C-9539-4F08-805A-EDBAD9C0F7F0}" destId="{2CE9D8F9-B237-4766-A1F6-C873AE2FEAE1}" srcOrd="0" destOrd="0" presId="urn:microsoft.com/office/officeart/2016/7/layout/BasicLinearProcessNumbered"/>
    <dgm:cxn modelId="{B7F3CB9C-A03D-4DCA-8E24-9E07B146BB6E}" type="presParOf" srcId="{FC8EF86C-9539-4F08-805A-EDBAD9C0F7F0}" destId="{FA2B7FF9-D288-4E9B-BE5F-68EC9580D4DA}" srcOrd="1" destOrd="0" presId="urn:microsoft.com/office/officeart/2016/7/layout/BasicLinearProcessNumbered"/>
    <dgm:cxn modelId="{651E4753-B375-4545-95B9-6A997CDA7E91}" type="presParOf" srcId="{FC8EF86C-9539-4F08-805A-EDBAD9C0F7F0}" destId="{2443B340-21F5-4299-8CB3-88817F9195F6}" srcOrd="2" destOrd="0" presId="urn:microsoft.com/office/officeart/2016/7/layout/BasicLinearProcessNumbered"/>
    <dgm:cxn modelId="{9A6C0647-2102-4363-B32E-0357B5803E8C}" type="presParOf" srcId="{FC8EF86C-9539-4F08-805A-EDBAD9C0F7F0}" destId="{68842A69-789B-487C-A280-04D9520A670D}"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9544B2-CD50-4127-BA17-DF3190399D2E}">
      <dsp:nvSpPr>
        <dsp:cNvPr id="0" name=""/>
        <dsp:cNvSpPr/>
      </dsp:nvSpPr>
      <dsp:spPr>
        <a:xfrm>
          <a:off x="608" y="168225"/>
          <a:ext cx="2373208" cy="1423924"/>
        </a:xfrm>
        <a:prstGeom prst="rect">
          <a:avLst/>
        </a:prstGeom>
        <a:gradFill rotWithShape="0">
          <a:gsLst>
            <a:gs pos="0">
              <a:schemeClr val="dk2">
                <a:hueOff val="0"/>
                <a:satOff val="0"/>
                <a:lumOff val="0"/>
                <a:alphaOff val="0"/>
                <a:shade val="85000"/>
                <a:satMod val="130000"/>
              </a:schemeClr>
            </a:gs>
            <a:gs pos="34000">
              <a:schemeClr val="dk2">
                <a:hueOff val="0"/>
                <a:satOff val="0"/>
                <a:lumOff val="0"/>
                <a:alphaOff val="0"/>
                <a:shade val="87000"/>
                <a:satMod val="125000"/>
              </a:schemeClr>
            </a:gs>
            <a:gs pos="70000">
              <a:schemeClr val="dk2">
                <a:hueOff val="0"/>
                <a:satOff val="0"/>
                <a:lumOff val="0"/>
                <a:alphaOff val="0"/>
                <a:tint val="100000"/>
                <a:shade val="90000"/>
                <a:satMod val="130000"/>
              </a:schemeClr>
            </a:gs>
            <a:gs pos="100000">
              <a:schemeClr val="dk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dirty="0"/>
            <a:t>The Problem: Organizations face a false binary choice between Waterfall structure and Agile flexibility.</a:t>
          </a:r>
        </a:p>
      </dsp:txBody>
      <dsp:txXfrm>
        <a:off x="608" y="168225"/>
        <a:ext cx="2373208" cy="1423924"/>
      </dsp:txXfrm>
    </dsp:sp>
    <dsp:sp modelId="{2E32FABC-F49A-46C6-86CE-77DDA1DE3675}">
      <dsp:nvSpPr>
        <dsp:cNvPr id="0" name=""/>
        <dsp:cNvSpPr/>
      </dsp:nvSpPr>
      <dsp:spPr>
        <a:xfrm>
          <a:off x="2611137" y="168225"/>
          <a:ext cx="2373208" cy="1423924"/>
        </a:xfrm>
        <a:prstGeom prst="rect">
          <a:avLst/>
        </a:prstGeom>
        <a:gradFill rotWithShape="0">
          <a:gsLst>
            <a:gs pos="0">
              <a:schemeClr val="dk2">
                <a:hueOff val="0"/>
                <a:satOff val="0"/>
                <a:lumOff val="0"/>
                <a:alphaOff val="0"/>
                <a:shade val="85000"/>
                <a:satMod val="130000"/>
              </a:schemeClr>
            </a:gs>
            <a:gs pos="34000">
              <a:schemeClr val="dk2">
                <a:hueOff val="0"/>
                <a:satOff val="0"/>
                <a:lumOff val="0"/>
                <a:alphaOff val="0"/>
                <a:shade val="87000"/>
                <a:satMod val="125000"/>
              </a:schemeClr>
            </a:gs>
            <a:gs pos="70000">
              <a:schemeClr val="dk2">
                <a:hueOff val="0"/>
                <a:satOff val="0"/>
                <a:lumOff val="0"/>
                <a:alphaOff val="0"/>
                <a:tint val="100000"/>
                <a:shade val="90000"/>
                <a:satMod val="130000"/>
              </a:schemeClr>
            </a:gs>
            <a:gs pos="100000">
              <a:schemeClr val="dk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a:t>Data Projects Are Different: They require both upfront clarity (data schemas, analytical methods) and adaptive problem-solving (unexpected patterns, emerging insights).\</a:t>
          </a:r>
        </a:p>
      </dsp:txBody>
      <dsp:txXfrm>
        <a:off x="2611137" y="168225"/>
        <a:ext cx="2373208" cy="1423924"/>
      </dsp:txXfrm>
    </dsp:sp>
    <dsp:sp modelId="{2C37D74E-791D-49D8-A68D-6E5441D508CC}">
      <dsp:nvSpPr>
        <dsp:cNvPr id="0" name=""/>
        <dsp:cNvSpPr/>
      </dsp:nvSpPr>
      <dsp:spPr>
        <a:xfrm>
          <a:off x="608" y="1829470"/>
          <a:ext cx="2373208" cy="1423924"/>
        </a:xfrm>
        <a:prstGeom prst="rect">
          <a:avLst/>
        </a:prstGeom>
        <a:gradFill rotWithShape="0">
          <a:gsLst>
            <a:gs pos="0">
              <a:schemeClr val="dk2">
                <a:hueOff val="0"/>
                <a:satOff val="0"/>
                <a:lumOff val="0"/>
                <a:alphaOff val="0"/>
                <a:shade val="85000"/>
                <a:satMod val="130000"/>
              </a:schemeClr>
            </a:gs>
            <a:gs pos="34000">
              <a:schemeClr val="dk2">
                <a:hueOff val="0"/>
                <a:satOff val="0"/>
                <a:lumOff val="0"/>
                <a:alphaOff val="0"/>
                <a:shade val="87000"/>
                <a:satMod val="125000"/>
              </a:schemeClr>
            </a:gs>
            <a:gs pos="70000">
              <a:schemeClr val="dk2">
                <a:hueOff val="0"/>
                <a:satOff val="0"/>
                <a:lumOff val="0"/>
                <a:alphaOff val="0"/>
                <a:tint val="100000"/>
                <a:shade val="90000"/>
                <a:satMod val="130000"/>
              </a:schemeClr>
            </a:gs>
            <a:gs pos="100000">
              <a:schemeClr val="dk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a:t>Real Example: Credit score analysis project with 100,000 observations across 28 variables.</a:t>
          </a:r>
        </a:p>
      </dsp:txBody>
      <dsp:txXfrm>
        <a:off x="608" y="1829470"/>
        <a:ext cx="2373208" cy="1423924"/>
      </dsp:txXfrm>
    </dsp:sp>
    <dsp:sp modelId="{4743D43D-5952-49AB-AC59-7A47F121CCCF}">
      <dsp:nvSpPr>
        <dsp:cNvPr id="0" name=""/>
        <dsp:cNvSpPr/>
      </dsp:nvSpPr>
      <dsp:spPr>
        <a:xfrm>
          <a:off x="2611137" y="1829470"/>
          <a:ext cx="2373208" cy="1423924"/>
        </a:xfrm>
        <a:prstGeom prst="rect">
          <a:avLst/>
        </a:prstGeom>
        <a:gradFill rotWithShape="0">
          <a:gsLst>
            <a:gs pos="0">
              <a:schemeClr val="dk2">
                <a:hueOff val="0"/>
                <a:satOff val="0"/>
                <a:lumOff val="0"/>
                <a:alphaOff val="0"/>
                <a:shade val="85000"/>
                <a:satMod val="130000"/>
              </a:schemeClr>
            </a:gs>
            <a:gs pos="34000">
              <a:schemeClr val="dk2">
                <a:hueOff val="0"/>
                <a:satOff val="0"/>
                <a:lumOff val="0"/>
                <a:alphaOff val="0"/>
                <a:shade val="87000"/>
                <a:satMod val="125000"/>
              </a:schemeClr>
            </a:gs>
            <a:gs pos="70000">
              <a:schemeClr val="dk2">
                <a:hueOff val="0"/>
                <a:satOff val="0"/>
                <a:lumOff val="0"/>
                <a:alphaOff val="0"/>
                <a:tint val="100000"/>
                <a:shade val="90000"/>
                <a:satMod val="130000"/>
              </a:schemeClr>
            </a:gs>
            <a:gs pos="100000">
              <a:schemeClr val="dk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100000"/>
            </a:lnSpc>
            <a:spcBef>
              <a:spcPct val="0"/>
            </a:spcBef>
            <a:spcAft>
              <a:spcPct val="35000"/>
            </a:spcAft>
            <a:buNone/>
          </a:pPr>
          <a:r>
            <a:rPr lang="en-US" sz="1300" kern="1200"/>
            <a:t>Key Tension: Delivering incremental insights while maintaining documentation and reproducibility</a:t>
          </a:r>
        </a:p>
      </dsp:txBody>
      <dsp:txXfrm>
        <a:off x="2611137" y="1829470"/>
        <a:ext cx="2373208" cy="14239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93030C-A5E1-4D32-A08C-7F6E2C7AE014}">
      <dsp:nvSpPr>
        <dsp:cNvPr id="0" name=""/>
        <dsp:cNvSpPr/>
      </dsp:nvSpPr>
      <dsp:spPr>
        <a:xfrm>
          <a:off x="0" y="0"/>
          <a:ext cx="7787148" cy="517140"/>
        </a:xfrm>
        <a:prstGeom prst="roundRect">
          <a:avLst/>
        </a:prstGeom>
        <a:gradFill rotWithShape="0">
          <a:gsLst>
            <a:gs pos="0">
              <a:schemeClr val="accent2">
                <a:hueOff val="0"/>
                <a:satOff val="0"/>
                <a:lumOff val="0"/>
                <a:alphaOff val="0"/>
                <a:shade val="85000"/>
                <a:satMod val="130000"/>
              </a:schemeClr>
            </a:gs>
            <a:gs pos="34000">
              <a:schemeClr val="accent2">
                <a:hueOff val="0"/>
                <a:satOff val="0"/>
                <a:lumOff val="0"/>
                <a:alphaOff val="0"/>
                <a:shade val="87000"/>
                <a:satMod val="125000"/>
              </a:schemeClr>
            </a:gs>
            <a:gs pos="70000">
              <a:schemeClr val="accent2">
                <a:hueOff val="0"/>
                <a:satOff val="0"/>
                <a:lumOff val="0"/>
                <a:alphaOff val="0"/>
                <a:tint val="100000"/>
                <a:shade val="90000"/>
                <a:satMod val="130000"/>
              </a:schemeClr>
            </a:gs>
            <a:gs pos="100000">
              <a:schemeClr val="accent2">
                <a:hueOff val="0"/>
                <a:satOff val="0"/>
                <a:lumOff val="0"/>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"Optimal project management for data analysis initiatives requires thoughtful integration of Waterfall's structural discipline and </a:t>
          </a:r>
          <a:r>
            <a:rPr lang="en-US" sz="1300" kern="1200" dirty="0" err="1"/>
            <a:t>Agile's</a:t>
          </a:r>
          <a:r>
            <a:rPr lang="en-US" sz="1300" kern="1200" dirty="0"/>
            <a:t> adaptive flexibility, rather than exclusive commitment to either methodology.“</a:t>
          </a:r>
        </a:p>
      </dsp:txBody>
      <dsp:txXfrm>
        <a:off x="25245" y="25245"/>
        <a:ext cx="7736658" cy="466650"/>
      </dsp:txXfrm>
    </dsp:sp>
    <dsp:sp modelId="{9B1ACBDF-1BCA-4987-B147-1B719C279329}">
      <dsp:nvSpPr>
        <dsp:cNvPr id="0" name=""/>
        <dsp:cNvSpPr/>
      </dsp:nvSpPr>
      <dsp:spPr>
        <a:xfrm>
          <a:off x="0" y="526335"/>
          <a:ext cx="7787148" cy="517140"/>
        </a:xfrm>
        <a:prstGeom prst="roundRect">
          <a:avLst/>
        </a:prstGeom>
        <a:gradFill rotWithShape="0">
          <a:gsLst>
            <a:gs pos="0">
              <a:schemeClr val="accent2">
                <a:hueOff val="-332956"/>
                <a:satOff val="-147"/>
                <a:lumOff val="392"/>
                <a:alphaOff val="0"/>
                <a:shade val="85000"/>
                <a:satMod val="130000"/>
              </a:schemeClr>
            </a:gs>
            <a:gs pos="34000">
              <a:schemeClr val="accent2">
                <a:hueOff val="-332956"/>
                <a:satOff val="-147"/>
                <a:lumOff val="392"/>
                <a:alphaOff val="0"/>
                <a:shade val="87000"/>
                <a:satMod val="125000"/>
              </a:schemeClr>
            </a:gs>
            <a:gs pos="70000">
              <a:schemeClr val="accent2">
                <a:hueOff val="-332956"/>
                <a:satOff val="-147"/>
                <a:lumOff val="392"/>
                <a:alphaOff val="0"/>
                <a:tint val="100000"/>
                <a:shade val="90000"/>
                <a:satMod val="130000"/>
              </a:schemeClr>
            </a:gs>
            <a:gs pos="100000">
              <a:schemeClr val="accent2">
                <a:hueOff val="-332956"/>
                <a:satOff val="-147"/>
                <a:lumOff val="392"/>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Three Key Claims:</a:t>
          </a:r>
          <a:endParaRPr lang="en-US" sz="1300" kern="1200" dirty="0"/>
        </a:p>
      </dsp:txBody>
      <dsp:txXfrm>
        <a:off x="25245" y="551580"/>
        <a:ext cx="7736658" cy="466650"/>
      </dsp:txXfrm>
    </dsp:sp>
    <dsp:sp modelId="{1D7B4D92-755D-4101-A457-18013A850674}">
      <dsp:nvSpPr>
        <dsp:cNvPr id="0" name=""/>
        <dsp:cNvSpPr/>
      </dsp:nvSpPr>
      <dsp:spPr>
        <a:xfrm>
          <a:off x="0" y="963031"/>
          <a:ext cx="7787148" cy="517140"/>
        </a:xfrm>
        <a:prstGeom prst="roundRect">
          <a:avLst/>
        </a:prstGeom>
        <a:gradFill rotWithShape="0">
          <a:gsLst>
            <a:gs pos="0">
              <a:schemeClr val="accent2">
                <a:hueOff val="-665912"/>
                <a:satOff val="-293"/>
                <a:lumOff val="784"/>
                <a:alphaOff val="0"/>
                <a:shade val="85000"/>
                <a:satMod val="130000"/>
              </a:schemeClr>
            </a:gs>
            <a:gs pos="34000">
              <a:schemeClr val="accent2">
                <a:hueOff val="-665912"/>
                <a:satOff val="-293"/>
                <a:lumOff val="784"/>
                <a:alphaOff val="0"/>
                <a:shade val="87000"/>
                <a:satMod val="125000"/>
              </a:schemeClr>
            </a:gs>
            <a:gs pos="70000">
              <a:schemeClr val="accent2">
                <a:hueOff val="-665912"/>
                <a:satOff val="-293"/>
                <a:lumOff val="784"/>
                <a:alphaOff val="0"/>
                <a:tint val="100000"/>
                <a:shade val="90000"/>
                <a:satMod val="130000"/>
              </a:schemeClr>
            </a:gs>
            <a:gs pos="100000">
              <a:schemeClr val="accent2">
                <a:hueOff val="-665912"/>
                <a:satOff val="-293"/>
                <a:lumOff val="784"/>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Waterfall Provides Essential Architecture</a:t>
          </a:r>
          <a:endParaRPr lang="en-US" sz="1300" kern="1200" dirty="0"/>
        </a:p>
      </dsp:txBody>
      <dsp:txXfrm>
        <a:off x="25245" y="988276"/>
        <a:ext cx="7736658" cy="466650"/>
      </dsp:txXfrm>
    </dsp:sp>
    <dsp:sp modelId="{FBA74FA7-2F11-4F55-9E8D-DFE573B443DE}">
      <dsp:nvSpPr>
        <dsp:cNvPr id="0" name=""/>
        <dsp:cNvSpPr/>
      </dsp:nvSpPr>
      <dsp:spPr>
        <a:xfrm>
          <a:off x="0" y="1627339"/>
          <a:ext cx="7787148" cy="51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242" tIns="12700" rIns="71120" bIns="12700" numCol="1" spcCol="1270" anchor="t" anchorCtr="0">
          <a:noAutofit/>
        </a:bodyPr>
        <a:lstStyle/>
        <a:p>
          <a:pPr marL="57150" lvl="1" indent="-57150" algn="l" defTabSz="444500">
            <a:lnSpc>
              <a:spcPct val="90000"/>
            </a:lnSpc>
            <a:spcBef>
              <a:spcPct val="0"/>
            </a:spcBef>
            <a:spcAft>
              <a:spcPct val="20000"/>
            </a:spcAft>
            <a:buChar char="•"/>
          </a:pPr>
          <a:r>
            <a:rPr lang="en-IN" sz="1000" kern="1200" dirty="0"/>
            <a:t>Clear requirements and phase gates prevent scope drift</a:t>
          </a:r>
          <a:endParaRPr lang="en-US" sz="1000" kern="1200" dirty="0"/>
        </a:p>
        <a:p>
          <a:pPr marL="57150" lvl="1" indent="-57150" algn="l" defTabSz="444500">
            <a:lnSpc>
              <a:spcPct val="90000"/>
            </a:lnSpc>
            <a:spcBef>
              <a:spcPct val="0"/>
            </a:spcBef>
            <a:spcAft>
              <a:spcPct val="20000"/>
            </a:spcAft>
            <a:buChar char="•"/>
          </a:pPr>
          <a:r>
            <a:rPr lang="en-IN" sz="1000" kern="1200" dirty="0"/>
            <a:t>Documentation discipline enables knowledge transfer</a:t>
          </a:r>
          <a:endParaRPr lang="en-US" sz="1000" kern="1200" dirty="0"/>
        </a:p>
        <a:p>
          <a:pPr marL="57150" lvl="1" indent="-57150" algn="l" defTabSz="444500">
            <a:lnSpc>
              <a:spcPct val="90000"/>
            </a:lnSpc>
            <a:spcBef>
              <a:spcPct val="0"/>
            </a:spcBef>
            <a:spcAft>
              <a:spcPct val="20000"/>
            </a:spcAft>
            <a:buChar char="•"/>
          </a:pPr>
          <a:r>
            <a:rPr lang="en-IN" sz="1000" kern="1200" dirty="0"/>
            <a:t>Quality checkpoints reduce downstream problems</a:t>
          </a:r>
          <a:endParaRPr lang="en-US" sz="1000" kern="1200" dirty="0"/>
        </a:p>
      </dsp:txBody>
      <dsp:txXfrm>
        <a:off x="0" y="1627339"/>
        <a:ext cx="7787148" cy="511290"/>
      </dsp:txXfrm>
    </dsp:sp>
    <dsp:sp modelId="{4BE68E27-ED28-4450-AC2F-62207D012561}">
      <dsp:nvSpPr>
        <dsp:cNvPr id="0" name=""/>
        <dsp:cNvSpPr/>
      </dsp:nvSpPr>
      <dsp:spPr>
        <a:xfrm>
          <a:off x="0" y="2185567"/>
          <a:ext cx="7787148" cy="517140"/>
        </a:xfrm>
        <a:prstGeom prst="roundRect">
          <a:avLst/>
        </a:prstGeom>
        <a:gradFill rotWithShape="0">
          <a:gsLst>
            <a:gs pos="0">
              <a:schemeClr val="accent2">
                <a:hueOff val="-998868"/>
                <a:satOff val="-440"/>
                <a:lumOff val="1177"/>
                <a:alphaOff val="0"/>
                <a:shade val="85000"/>
                <a:satMod val="130000"/>
              </a:schemeClr>
            </a:gs>
            <a:gs pos="34000">
              <a:schemeClr val="accent2">
                <a:hueOff val="-998868"/>
                <a:satOff val="-440"/>
                <a:lumOff val="1177"/>
                <a:alphaOff val="0"/>
                <a:shade val="87000"/>
                <a:satMod val="125000"/>
              </a:schemeClr>
            </a:gs>
            <a:gs pos="70000">
              <a:schemeClr val="accent2">
                <a:hueOff val="-998868"/>
                <a:satOff val="-440"/>
                <a:lumOff val="1177"/>
                <a:alphaOff val="0"/>
                <a:tint val="100000"/>
                <a:shade val="90000"/>
                <a:satMod val="130000"/>
              </a:schemeClr>
            </a:gs>
            <a:gs pos="100000">
              <a:schemeClr val="accent2">
                <a:hueOff val="-998868"/>
                <a:satOff val="-440"/>
                <a:lumOff val="1177"/>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Agile Enables Continuous Learning</a:t>
          </a:r>
          <a:endParaRPr lang="en-US" sz="1300" kern="1200" dirty="0"/>
        </a:p>
      </dsp:txBody>
      <dsp:txXfrm>
        <a:off x="25245" y="2210812"/>
        <a:ext cx="7736658" cy="466650"/>
      </dsp:txXfrm>
    </dsp:sp>
    <dsp:sp modelId="{064A72F0-419E-44B2-9875-4DD6946289FC}">
      <dsp:nvSpPr>
        <dsp:cNvPr id="0" name=""/>
        <dsp:cNvSpPr/>
      </dsp:nvSpPr>
      <dsp:spPr>
        <a:xfrm>
          <a:off x="0" y="2727440"/>
          <a:ext cx="7787148" cy="51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242" tIns="12700" rIns="71120" bIns="12700" numCol="1" spcCol="1270" anchor="t" anchorCtr="0">
          <a:noAutofit/>
        </a:bodyPr>
        <a:lstStyle/>
        <a:p>
          <a:pPr marL="57150" lvl="1" indent="-57150" algn="l" defTabSz="444500">
            <a:lnSpc>
              <a:spcPct val="90000"/>
            </a:lnSpc>
            <a:spcBef>
              <a:spcPct val="0"/>
            </a:spcBef>
            <a:spcAft>
              <a:spcPct val="20000"/>
            </a:spcAft>
            <a:buChar char="•"/>
          </a:pPr>
          <a:r>
            <a:rPr lang="en-IN" sz="1000" kern="1200"/>
            <a:t>2-week sprint cycles catch issues early</a:t>
          </a:r>
          <a:endParaRPr lang="en-US" sz="1000" kern="1200"/>
        </a:p>
        <a:p>
          <a:pPr marL="57150" lvl="1" indent="-57150" algn="l" defTabSz="444500">
            <a:lnSpc>
              <a:spcPct val="90000"/>
            </a:lnSpc>
            <a:spcBef>
              <a:spcPct val="0"/>
            </a:spcBef>
            <a:spcAft>
              <a:spcPct val="20000"/>
            </a:spcAft>
            <a:buChar char="•"/>
          </a:pPr>
          <a:r>
            <a:rPr lang="en-IN" sz="1000" kern="1200" dirty="0"/>
            <a:t>Sprint reviews maintain stakeholder alignment</a:t>
          </a:r>
          <a:endParaRPr lang="en-US" sz="1000" kern="1200" dirty="0"/>
        </a:p>
        <a:p>
          <a:pPr marL="57150" lvl="1" indent="-57150" algn="l" defTabSz="444500">
            <a:lnSpc>
              <a:spcPct val="90000"/>
            </a:lnSpc>
            <a:spcBef>
              <a:spcPct val="0"/>
            </a:spcBef>
            <a:spcAft>
              <a:spcPct val="20000"/>
            </a:spcAft>
            <a:buChar char="•"/>
          </a:pPr>
          <a:r>
            <a:rPr lang="en-IN" sz="1000" kern="1200" dirty="0"/>
            <a:t>Incremental value delivery sustains engagement</a:t>
          </a:r>
          <a:endParaRPr lang="en-US" sz="1000" kern="1200" dirty="0"/>
        </a:p>
      </dsp:txBody>
      <dsp:txXfrm>
        <a:off x="0" y="2727440"/>
        <a:ext cx="7787148" cy="511290"/>
      </dsp:txXfrm>
    </dsp:sp>
    <dsp:sp modelId="{793ED9BC-AD6C-412C-A984-DE5DE57078F9}">
      <dsp:nvSpPr>
        <dsp:cNvPr id="0" name=""/>
        <dsp:cNvSpPr/>
      </dsp:nvSpPr>
      <dsp:spPr>
        <a:xfrm>
          <a:off x="0" y="3306397"/>
          <a:ext cx="7787148" cy="517140"/>
        </a:xfrm>
        <a:prstGeom prst="roundRect">
          <a:avLst/>
        </a:prstGeom>
        <a:gradFill rotWithShape="0">
          <a:gsLst>
            <a:gs pos="0">
              <a:schemeClr val="accent2">
                <a:hueOff val="-1331824"/>
                <a:satOff val="-586"/>
                <a:lumOff val="1569"/>
                <a:alphaOff val="0"/>
                <a:shade val="85000"/>
                <a:satMod val="130000"/>
              </a:schemeClr>
            </a:gs>
            <a:gs pos="34000">
              <a:schemeClr val="accent2">
                <a:hueOff val="-1331824"/>
                <a:satOff val="-586"/>
                <a:lumOff val="1569"/>
                <a:alphaOff val="0"/>
                <a:shade val="87000"/>
                <a:satMod val="125000"/>
              </a:schemeClr>
            </a:gs>
            <a:gs pos="70000">
              <a:schemeClr val="accent2">
                <a:hueOff val="-1331824"/>
                <a:satOff val="-586"/>
                <a:lumOff val="1569"/>
                <a:alphaOff val="0"/>
                <a:tint val="100000"/>
                <a:shade val="90000"/>
                <a:satMod val="130000"/>
              </a:schemeClr>
            </a:gs>
            <a:gs pos="100000">
              <a:schemeClr val="accent2">
                <a:hueOff val="-1331824"/>
                <a:satOff val="-586"/>
                <a:lumOff val="1569"/>
                <a:alphaOff val="0"/>
                <a:tint val="100000"/>
                <a:shade val="100000"/>
                <a:satMod val="110000"/>
              </a:schemeClr>
            </a:gs>
          </a:gsLst>
          <a:path path="circle">
            <a:fillToRect l="100000" t="100000" r="100000" b="100000"/>
          </a:path>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dirty="0"/>
            <a:t>Integration Yields Superior Outcomes</a:t>
          </a:r>
          <a:endParaRPr lang="en-US" sz="1300" kern="1200" dirty="0"/>
        </a:p>
      </dsp:txBody>
      <dsp:txXfrm>
        <a:off x="25245" y="3331642"/>
        <a:ext cx="7736658" cy="466650"/>
      </dsp:txXfrm>
    </dsp:sp>
    <dsp:sp modelId="{3E3713E4-1A80-4874-8591-0EBE658A14C7}">
      <dsp:nvSpPr>
        <dsp:cNvPr id="0" name=""/>
        <dsp:cNvSpPr/>
      </dsp:nvSpPr>
      <dsp:spPr>
        <a:xfrm>
          <a:off x="0" y="3848402"/>
          <a:ext cx="7787148" cy="51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242" tIns="12700" rIns="71120" bIns="12700" numCol="1" spcCol="1270" anchor="t" anchorCtr="0">
          <a:noAutofit/>
        </a:bodyPr>
        <a:lstStyle/>
        <a:p>
          <a:pPr marL="57150" lvl="1" indent="-57150" algn="l" defTabSz="444500">
            <a:lnSpc>
              <a:spcPct val="90000"/>
            </a:lnSpc>
            <a:spcBef>
              <a:spcPct val="0"/>
            </a:spcBef>
            <a:spcAft>
              <a:spcPct val="20000"/>
            </a:spcAft>
            <a:buChar char="•"/>
          </a:pPr>
          <a:r>
            <a:rPr lang="en-IN" sz="1000" kern="1200" dirty="0"/>
            <a:t>Better project predictability (phase gates)</a:t>
          </a:r>
          <a:endParaRPr lang="en-US" sz="1000" kern="1200" dirty="0"/>
        </a:p>
        <a:p>
          <a:pPr marL="57150" lvl="1" indent="-57150" algn="l" defTabSz="444500">
            <a:lnSpc>
              <a:spcPct val="90000"/>
            </a:lnSpc>
            <a:spcBef>
              <a:spcPct val="0"/>
            </a:spcBef>
            <a:spcAft>
              <a:spcPct val="20000"/>
            </a:spcAft>
            <a:buChar char="•"/>
          </a:pPr>
          <a:r>
            <a:rPr lang="en-IN" sz="1000" kern="1200"/>
            <a:t>Better analytical rigor (continuous improvement)</a:t>
          </a:r>
          <a:endParaRPr lang="en-US" sz="1000" kern="1200"/>
        </a:p>
        <a:p>
          <a:pPr marL="57150" lvl="1" indent="-57150" algn="l" defTabSz="444500">
            <a:lnSpc>
              <a:spcPct val="90000"/>
            </a:lnSpc>
            <a:spcBef>
              <a:spcPct val="0"/>
            </a:spcBef>
            <a:spcAft>
              <a:spcPct val="20000"/>
            </a:spcAft>
            <a:buChar char="•"/>
          </a:pPr>
          <a:r>
            <a:rPr lang="en-IN" sz="1000" kern="1200" dirty="0"/>
            <a:t>Better stakeholder satisfaction (regular feedback)</a:t>
          </a:r>
          <a:endParaRPr lang="en-US" sz="1000" kern="1200" dirty="0"/>
        </a:p>
      </dsp:txBody>
      <dsp:txXfrm>
        <a:off x="0" y="3848402"/>
        <a:ext cx="7787148" cy="5112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056D9F-2B9F-4653-9D43-881F3464F935}">
      <dsp:nvSpPr>
        <dsp:cNvPr id="0" name=""/>
        <dsp:cNvSpPr/>
      </dsp:nvSpPr>
      <dsp:spPr>
        <a:xfrm>
          <a:off x="1277648" y="1175"/>
          <a:ext cx="5110593" cy="1204660"/>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160" tIns="305984" rIns="99160" bIns="305984" numCol="1" spcCol="1270" anchor="ctr" anchorCtr="0">
          <a:noAutofit/>
        </a:bodyPr>
        <a:lstStyle/>
        <a:p>
          <a:pPr marL="0" lvl="0" indent="0" algn="l" defTabSz="488950">
            <a:lnSpc>
              <a:spcPct val="100000"/>
            </a:lnSpc>
            <a:spcBef>
              <a:spcPct val="0"/>
            </a:spcBef>
            <a:spcAft>
              <a:spcPct val="35000"/>
            </a:spcAft>
            <a:buNone/>
          </a:pPr>
          <a:r>
            <a:rPr lang="en-IN" sz="1100" kern="1200"/>
            <a:t>Objective: Determine if payment delays significantly impact credit score classification</a:t>
          </a:r>
          <a:endParaRPr lang="en-US" sz="1100" kern="1200"/>
        </a:p>
        <a:p>
          <a:pPr marL="0" lvl="0" indent="0" algn="l" defTabSz="488950">
            <a:lnSpc>
              <a:spcPct val="100000"/>
            </a:lnSpc>
            <a:spcBef>
              <a:spcPct val="0"/>
            </a:spcBef>
            <a:spcAft>
              <a:spcPct val="35000"/>
            </a:spcAft>
            <a:buNone/>
          </a:pPr>
          <a:r>
            <a:rPr lang="en-IN" sz="1100" kern="1200"/>
            <a:t>Tasks: Exploratory analysis → Kruskal-Wallis test → Post-hoc Dunn's test → Boxplot visualizations</a:t>
          </a:r>
          <a:endParaRPr lang="en-US" sz="1100" kern="1200"/>
        </a:p>
        <a:p>
          <a:pPr marL="0" lvl="0" indent="0" algn="l" defTabSz="488950">
            <a:lnSpc>
              <a:spcPct val="100000"/>
            </a:lnSpc>
            <a:spcBef>
              <a:spcPct val="0"/>
            </a:spcBef>
            <a:spcAft>
              <a:spcPct val="35000"/>
            </a:spcAft>
            <a:buNone/>
          </a:pPr>
          <a:r>
            <a:rPr lang="en-IN" sz="1100" kern="1200"/>
            <a:t>Result: Statistical evidence that delays are highly significant (p&lt;0.001)</a:t>
          </a:r>
          <a:endParaRPr lang="en-US" sz="1100" kern="1200"/>
        </a:p>
        <a:p>
          <a:pPr marL="0" lvl="0" indent="0" algn="l" defTabSz="488950">
            <a:lnSpc>
              <a:spcPct val="100000"/>
            </a:lnSpc>
            <a:spcBef>
              <a:spcPct val="0"/>
            </a:spcBef>
            <a:spcAft>
              <a:spcPct val="35000"/>
            </a:spcAft>
            <a:buNone/>
          </a:pPr>
          <a:r>
            <a:rPr lang="en-IN" sz="1100" kern="1200"/>
            <a:t>Value: Clear understanding enabling stakeholder decisions</a:t>
          </a:r>
          <a:endParaRPr lang="en-US" sz="1100" kern="1200"/>
        </a:p>
      </dsp:txBody>
      <dsp:txXfrm>
        <a:off x="1277648" y="1175"/>
        <a:ext cx="5110593" cy="1204660"/>
      </dsp:txXfrm>
    </dsp:sp>
    <dsp:sp modelId="{7DB16BD1-04CD-4A9F-81DD-0115EEB355F9}">
      <dsp:nvSpPr>
        <dsp:cNvPr id="0" name=""/>
        <dsp:cNvSpPr/>
      </dsp:nvSpPr>
      <dsp:spPr>
        <a:xfrm>
          <a:off x="0" y="1175"/>
          <a:ext cx="1277648" cy="120466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67609" tIns="118994" rIns="67609" bIns="118994" numCol="1" spcCol="1270" anchor="ctr" anchorCtr="0">
          <a:noAutofit/>
        </a:bodyPr>
        <a:lstStyle/>
        <a:p>
          <a:pPr marL="0" lvl="0" indent="0" algn="ctr" defTabSz="622300">
            <a:lnSpc>
              <a:spcPct val="90000"/>
            </a:lnSpc>
            <a:spcBef>
              <a:spcPct val="0"/>
            </a:spcBef>
            <a:spcAft>
              <a:spcPct val="35000"/>
            </a:spcAft>
            <a:buNone/>
          </a:pPr>
          <a:r>
            <a:rPr lang="en-US" sz="1400" kern="1200"/>
            <a:t>MUW #1 - Payment Delay Analysis (2-3 days):</a:t>
          </a:r>
        </a:p>
      </dsp:txBody>
      <dsp:txXfrm>
        <a:off x="0" y="1175"/>
        <a:ext cx="1277648" cy="1204660"/>
      </dsp:txXfrm>
    </dsp:sp>
    <dsp:sp modelId="{CA8E82C5-AB43-4ED8-93DB-CB71E8EFD0DF}">
      <dsp:nvSpPr>
        <dsp:cNvPr id="0" name=""/>
        <dsp:cNvSpPr/>
      </dsp:nvSpPr>
      <dsp:spPr>
        <a:xfrm>
          <a:off x="1277648" y="1278115"/>
          <a:ext cx="5110593" cy="1204660"/>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160" tIns="305984" rIns="99160" bIns="305984" numCol="1" spcCol="1270" anchor="ctr" anchorCtr="0">
          <a:noAutofit/>
        </a:bodyPr>
        <a:lstStyle/>
        <a:p>
          <a:pPr marL="0" lvl="0" indent="0" algn="l" defTabSz="488950">
            <a:lnSpc>
              <a:spcPct val="100000"/>
            </a:lnSpc>
            <a:spcBef>
              <a:spcPct val="0"/>
            </a:spcBef>
            <a:spcAft>
              <a:spcPct val="35000"/>
            </a:spcAft>
            <a:buNone/>
          </a:pPr>
          <a:r>
            <a:rPr lang="en-US" sz="1100" kern="1200"/>
            <a:t>Objective: Understand how age influences credit scores</a:t>
          </a:r>
        </a:p>
        <a:p>
          <a:pPr marL="0" lvl="0" indent="0" algn="l" defTabSz="488950">
            <a:lnSpc>
              <a:spcPct val="100000"/>
            </a:lnSpc>
            <a:spcBef>
              <a:spcPct val="0"/>
            </a:spcBef>
            <a:spcAft>
              <a:spcPct val="35000"/>
            </a:spcAft>
            <a:buNone/>
          </a:pPr>
          <a:r>
            <a:rPr lang="en-US" sz="1100" kern="1200"/>
            <a:t>Tasks: Feature engineering (5 life-stage categories) → Chi-Square test → Distribution visualizations</a:t>
          </a:r>
        </a:p>
        <a:p>
          <a:pPr marL="0" lvl="0" indent="0" algn="l" defTabSz="488950">
            <a:lnSpc>
              <a:spcPct val="100000"/>
            </a:lnSpc>
            <a:spcBef>
              <a:spcPct val="0"/>
            </a:spcBef>
            <a:spcAft>
              <a:spcPct val="35000"/>
            </a:spcAft>
            <a:buNone/>
          </a:pPr>
          <a:r>
            <a:rPr lang="en-US" sz="1100" kern="1200"/>
            <a:t>Result: Significant association (χ²=362.12, p&lt;0.001), middle-aged groups show 40% more Good scores</a:t>
          </a:r>
        </a:p>
        <a:p>
          <a:pPr marL="0" lvl="0" indent="0" algn="l" defTabSz="488950">
            <a:lnSpc>
              <a:spcPct val="100000"/>
            </a:lnSpc>
            <a:spcBef>
              <a:spcPct val="0"/>
            </a:spcBef>
            <a:spcAft>
              <a:spcPct val="35000"/>
            </a:spcAft>
            <a:buNone/>
          </a:pPr>
          <a:r>
            <a:rPr lang="en-US" sz="1100" kern="1200"/>
            <a:t>Value: Demographic segmentation insights for lending strategy</a:t>
          </a:r>
        </a:p>
      </dsp:txBody>
      <dsp:txXfrm>
        <a:off x="1277648" y="1278115"/>
        <a:ext cx="5110593" cy="1204660"/>
      </dsp:txXfrm>
    </dsp:sp>
    <dsp:sp modelId="{C628B374-27A1-4426-B47B-DD7DB95708AA}">
      <dsp:nvSpPr>
        <dsp:cNvPr id="0" name=""/>
        <dsp:cNvSpPr/>
      </dsp:nvSpPr>
      <dsp:spPr>
        <a:xfrm>
          <a:off x="0" y="1278115"/>
          <a:ext cx="1277648" cy="120466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67609" tIns="118994" rIns="67609" bIns="118994" numCol="1" spcCol="1270" anchor="ctr" anchorCtr="0">
          <a:noAutofit/>
        </a:bodyPr>
        <a:lstStyle/>
        <a:p>
          <a:pPr marL="0" lvl="0" indent="0" algn="ctr" defTabSz="622300">
            <a:lnSpc>
              <a:spcPct val="90000"/>
            </a:lnSpc>
            <a:spcBef>
              <a:spcPct val="0"/>
            </a:spcBef>
            <a:spcAft>
              <a:spcPct val="35000"/>
            </a:spcAft>
            <a:buNone/>
          </a:pPr>
          <a:r>
            <a:rPr lang="en-US" sz="1400" kern="1200"/>
            <a:t>MUW #2 - Age Demographics Analysis (2-3 days):</a:t>
          </a:r>
        </a:p>
      </dsp:txBody>
      <dsp:txXfrm>
        <a:off x="0" y="1278115"/>
        <a:ext cx="1277648" cy="1204660"/>
      </dsp:txXfrm>
    </dsp:sp>
    <dsp:sp modelId="{2D6B481D-2545-4CAB-A92F-304DFD177567}">
      <dsp:nvSpPr>
        <dsp:cNvPr id="0" name=""/>
        <dsp:cNvSpPr/>
      </dsp:nvSpPr>
      <dsp:spPr>
        <a:xfrm>
          <a:off x="1277648" y="2555055"/>
          <a:ext cx="5110593" cy="1204660"/>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160" tIns="305984" rIns="99160" bIns="305984" numCol="1" spcCol="1270" anchor="ctr" anchorCtr="0">
          <a:noAutofit/>
        </a:bodyPr>
        <a:lstStyle/>
        <a:p>
          <a:pPr marL="0" lvl="0" indent="0" algn="l" defTabSz="488950">
            <a:lnSpc>
              <a:spcPct val="100000"/>
            </a:lnSpc>
            <a:spcBef>
              <a:spcPct val="0"/>
            </a:spcBef>
            <a:spcAft>
              <a:spcPct val="35000"/>
            </a:spcAft>
            <a:buNone/>
          </a:pPr>
          <a:r>
            <a:rPr lang="en-US" sz="1100" kern="1200"/>
            <a:t>Objective: Examine if utilization ratios differ across score categories</a:t>
          </a:r>
        </a:p>
        <a:p>
          <a:pPr marL="0" lvl="0" indent="0" algn="l" defTabSz="488950">
            <a:lnSpc>
              <a:spcPct val="100000"/>
            </a:lnSpc>
            <a:spcBef>
              <a:spcPct val="0"/>
            </a:spcBef>
            <a:spcAft>
              <a:spcPct val="35000"/>
            </a:spcAft>
            <a:buNone/>
          </a:pPr>
          <a:r>
            <a:rPr lang="en-US" sz="1100" kern="1200"/>
            <a:t>Tasks: Exploratory analysis → ANOVA testing → Summary statistics → Visualization</a:t>
          </a:r>
        </a:p>
        <a:p>
          <a:pPr marL="0" lvl="0" indent="0" algn="l" defTabSz="488950">
            <a:lnSpc>
              <a:spcPct val="100000"/>
            </a:lnSpc>
            <a:spcBef>
              <a:spcPct val="0"/>
            </a:spcBef>
            <a:spcAft>
              <a:spcPct val="35000"/>
            </a:spcAft>
            <a:buNone/>
          </a:pPr>
          <a:r>
            <a:rPr lang="en-US" sz="1100" kern="1200"/>
            <a:t>Result: Optimal range 21-30% for Good scores; &gt;40% associated with Poor classification</a:t>
          </a:r>
        </a:p>
        <a:p>
          <a:pPr marL="0" lvl="0" indent="0" algn="l" defTabSz="488950">
            <a:lnSpc>
              <a:spcPct val="100000"/>
            </a:lnSpc>
            <a:spcBef>
              <a:spcPct val="0"/>
            </a:spcBef>
            <a:spcAft>
              <a:spcPct val="35000"/>
            </a:spcAft>
            <a:buNone/>
          </a:pPr>
          <a:r>
            <a:rPr lang="en-US" sz="1100" kern="1200"/>
            <a:t>Value: Actionable threshold guidance for consumers</a:t>
          </a:r>
        </a:p>
      </dsp:txBody>
      <dsp:txXfrm>
        <a:off x="1277648" y="2555055"/>
        <a:ext cx="5110593" cy="1204660"/>
      </dsp:txXfrm>
    </dsp:sp>
    <dsp:sp modelId="{EEA0A076-4AE9-481E-A067-81AA52BEF199}">
      <dsp:nvSpPr>
        <dsp:cNvPr id="0" name=""/>
        <dsp:cNvSpPr/>
      </dsp:nvSpPr>
      <dsp:spPr>
        <a:xfrm>
          <a:off x="0" y="2555055"/>
          <a:ext cx="1277648" cy="1204660"/>
        </a:xfrm>
        <a:prstGeom prst="rect">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67609" tIns="118994" rIns="67609" bIns="118994" numCol="1" spcCol="1270" anchor="ctr" anchorCtr="0">
          <a:noAutofit/>
        </a:bodyPr>
        <a:lstStyle/>
        <a:p>
          <a:pPr marL="0" lvl="0" indent="0" algn="ctr" defTabSz="622300">
            <a:lnSpc>
              <a:spcPct val="90000"/>
            </a:lnSpc>
            <a:spcBef>
              <a:spcPct val="0"/>
            </a:spcBef>
            <a:spcAft>
              <a:spcPct val="35000"/>
            </a:spcAft>
            <a:buNone/>
          </a:pPr>
          <a:r>
            <a:rPr lang="en-US" sz="1400" kern="1200"/>
            <a:t>MUW #3 - Credit Utilization Analysis (2-3 days):</a:t>
          </a:r>
        </a:p>
      </dsp:txBody>
      <dsp:txXfrm>
        <a:off x="0" y="2555055"/>
        <a:ext cx="1277648" cy="12046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50F91C-1E3B-47CD-BBB4-56EA52C4A745}">
      <dsp:nvSpPr>
        <dsp:cNvPr id="0" name=""/>
        <dsp:cNvSpPr/>
      </dsp:nvSpPr>
      <dsp:spPr>
        <a:xfrm>
          <a:off x="0" y="1319018"/>
          <a:ext cx="2138904" cy="2994465"/>
        </a:xfrm>
        <a:prstGeom prst="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6757" tIns="330200" rIns="166757" bIns="330200" numCol="1" spcCol="1270" anchor="t" anchorCtr="0">
          <a:noAutofit/>
        </a:bodyPr>
        <a:lstStyle/>
        <a:p>
          <a:pPr marL="0" lvl="0" indent="0" algn="l" defTabSz="488950">
            <a:lnSpc>
              <a:spcPct val="90000"/>
            </a:lnSpc>
            <a:spcBef>
              <a:spcPct val="0"/>
            </a:spcBef>
            <a:spcAft>
              <a:spcPct val="35000"/>
            </a:spcAft>
            <a:buNone/>
          </a:pPr>
          <a:r>
            <a:rPr lang="en-IN" sz="1100" kern="1200"/>
            <a:t>Daily Stand-ups (5 minutes)</a:t>
          </a:r>
          <a:endParaRPr lang="en-US" sz="1100" kern="1200"/>
        </a:p>
        <a:p>
          <a:pPr marL="57150" lvl="1" indent="-57150" algn="l" defTabSz="400050">
            <a:lnSpc>
              <a:spcPct val="90000"/>
            </a:lnSpc>
            <a:spcBef>
              <a:spcPct val="0"/>
            </a:spcBef>
            <a:spcAft>
              <a:spcPct val="15000"/>
            </a:spcAft>
            <a:buChar char="•"/>
          </a:pPr>
          <a:r>
            <a:rPr lang="en-US" sz="900" kern="1200"/>
            <a:t>What was completed yesterday?</a:t>
          </a:r>
        </a:p>
        <a:p>
          <a:pPr marL="57150" lvl="1" indent="-57150" algn="l" defTabSz="400050">
            <a:lnSpc>
              <a:spcPct val="90000"/>
            </a:lnSpc>
            <a:spcBef>
              <a:spcPct val="0"/>
            </a:spcBef>
            <a:spcAft>
              <a:spcPct val="15000"/>
            </a:spcAft>
            <a:buChar char="•"/>
          </a:pPr>
          <a:r>
            <a:rPr lang="en-US" sz="900" kern="1200"/>
            <a:t>What will be completed today?</a:t>
          </a:r>
        </a:p>
        <a:p>
          <a:pPr marL="57150" lvl="1" indent="-57150" algn="l" defTabSz="400050">
            <a:lnSpc>
              <a:spcPct val="90000"/>
            </a:lnSpc>
            <a:spcBef>
              <a:spcPct val="0"/>
            </a:spcBef>
            <a:spcAft>
              <a:spcPct val="15000"/>
            </a:spcAft>
            <a:buChar char="•"/>
          </a:pPr>
          <a:r>
            <a:rPr lang="en-US" sz="900" kern="1200"/>
            <a:t>What obstacles emerged?</a:t>
          </a:r>
        </a:p>
        <a:p>
          <a:pPr marL="57150" lvl="1" indent="-57150" algn="l" defTabSz="400050">
            <a:lnSpc>
              <a:spcPct val="90000"/>
            </a:lnSpc>
            <a:spcBef>
              <a:spcPct val="0"/>
            </a:spcBef>
            <a:spcAft>
              <a:spcPct val="15000"/>
            </a:spcAft>
            <a:buChar char="•"/>
          </a:pPr>
          <a:r>
            <a:rPr lang="en-US" sz="900" kern="1200" dirty="0"/>
            <a:t>Example: When exploratory analysis revealed income distribution skewness of 26.252, immediate log transformation was applied within the same sprint, preventing downstream model corruption</a:t>
          </a:r>
        </a:p>
      </dsp:txBody>
      <dsp:txXfrm>
        <a:off x="0" y="2456915"/>
        <a:ext cx="2138904" cy="1796679"/>
      </dsp:txXfrm>
    </dsp:sp>
    <dsp:sp modelId="{AACADA96-9171-4101-A366-C64E4A95F181}">
      <dsp:nvSpPr>
        <dsp:cNvPr id="0" name=""/>
        <dsp:cNvSpPr/>
      </dsp:nvSpPr>
      <dsp:spPr>
        <a:xfrm>
          <a:off x="620282" y="1618465"/>
          <a:ext cx="898339" cy="898339"/>
        </a:xfrm>
        <a:prstGeom prst="ellipse">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038" tIns="12700" rIns="70038" bIns="12700" numCol="1" spcCol="1270" anchor="ctr" anchorCtr="0">
          <a:noAutofit/>
        </a:bodyPr>
        <a:lstStyle/>
        <a:p>
          <a:pPr marL="0" lvl="0" indent="0" algn="ctr" defTabSz="1911350">
            <a:lnSpc>
              <a:spcPct val="90000"/>
            </a:lnSpc>
            <a:spcBef>
              <a:spcPct val="0"/>
            </a:spcBef>
            <a:spcAft>
              <a:spcPct val="35000"/>
            </a:spcAft>
            <a:buNone/>
          </a:pPr>
          <a:r>
            <a:rPr lang="en-US" sz="4300" kern="1200"/>
            <a:t>1</a:t>
          </a:r>
        </a:p>
      </dsp:txBody>
      <dsp:txXfrm>
        <a:off x="751841" y="1750024"/>
        <a:ext cx="635221" cy="635221"/>
      </dsp:txXfrm>
    </dsp:sp>
    <dsp:sp modelId="{13E89D1A-EF15-471A-ABD1-E070E366D56C}">
      <dsp:nvSpPr>
        <dsp:cNvPr id="0" name=""/>
        <dsp:cNvSpPr/>
      </dsp:nvSpPr>
      <dsp:spPr>
        <a:xfrm>
          <a:off x="0" y="4313412"/>
          <a:ext cx="2138904" cy="72"/>
        </a:xfrm>
        <a:prstGeom prst="rect">
          <a:avLst/>
        </a:prstGeom>
        <a:solidFill>
          <a:schemeClr val="accent5">
            <a:hueOff val="471357"/>
            <a:satOff val="-2254"/>
            <a:lumOff val="2471"/>
            <a:alphaOff val="0"/>
          </a:schemeClr>
        </a:solidFill>
        <a:ln w="15875" cap="flat" cmpd="sng" algn="ctr">
          <a:solidFill>
            <a:schemeClr val="accent5">
              <a:hueOff val="471357"/>
              <a:satOff val="-2254"/>
              <a:lumOff val="247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C9FAB8-2718-4E0A-B7B3-3A7C2FCCD253}">
      <dsp:nvSpPr>
        <dsp:cNvPr id="0" name=""/>
        <dsp:cNvSpPr/>
      </dsp:nvSpPr>
      <dsp:spPr>
        <a:xfrm>
          <a:off x="2352794" y="1319018"/>
          <a:ext cx="2138904" cy="2994465"/>
        </a:xfrm>
        <a:prstGeom prst="rect">
          <a:avLst/>
        </a:prstGeom>
        <a:solidFill>
          <a:schemeClr val="accent5">
            <a:tint val="40000"/>
            <a:alpha val="90000"/>
            <a:hueOff val="1302675"/>
            <a:satOff val="2398"/>
            <a:lumOff val="1062"/>
            <a:alphaOff val="0"/>
          </a:schemeClr>
        </a:solidFill>
        <a:ln w="15875" cap="flat" cmpd="sng" algn="ctr">
          <a:solidFill>
            <a:schemeClr val="accent5">
              <a:tint val="40000"/>
              <a:alpha val="90000"/>
              <a:hueOff val="1302675"/>
              <a:satOff val="2398"/>
              <a:lumOff val="106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6757" tIns="330200" rIns="166757" bIns="330200" numCol="1" spcCol="1270" anchor="t" anchorCtr="0">
          <a:noAutofit/>
        </a:bodyPr>
        <a:lstStyle/>
        <a:p>
          <a:pPr marL="0" lvl="0" indent="0" algn="l" defTabSz="488950">
            <a:lnSpc>
              <a:spcPct val="90000"/>
            </a:lnSpc>
            <a:spcBef>
              <a:spcPct val="0"/>
            </a:spcBef>
            <a:spcAft>
              <a:spcPct val="35000"/>
            </a:spcAft>
            <a:buNone/>
          </a:pPr>
          <a:r>
            <a:rPr lang="en-US" sz="1100" kern="1200"/>
            <a:t>Sprint Reviews (Every 2 weeks)</a:t>
          </a:r>
        </a:p>
        <a:p>
          <a:pPr marL="57150" lvl="1" indent="-57150" algn="l" defTabSz="400050">
            <a:lnSpc>
              <a:spcPct val="90000"/>
            </a:lnSpc>
            <a:spcBef>
              <a:spcPct val="0"/>
            </a:spcBef>
            <a:spcAft>
              <a:spcPct val="15000"/>
            </a:spcAft>
            <a:buChar char="•"/>
          </a:pPr>
          <a:r>
            <a:rPr lang="en-US" sz="900" kern="1200"/>
            <a:t>Demonstrated completed analysis to stakeholders</a:t>
          </a:r>
        </a:p>
        <a:p>
          <a:pPr marL="57150" lvl="1" indent="-57150" algn="l" defTabSz="400050">
            <a:lnSpc>
              <a:spcPct val="90000"/>
            </a:lnSpc>
            <a:spcBef>
              <a:spcPct val="0"/>
            </a:spcBef>
            <a:spcAft>
              <a:spcPct val="15000"/>
            </a:spcAft>
            <a:buChar char="•"/>
          </a:pPr>
          <a:r>
            <a:rPr lang="en-US" sz="900" kern="1200"/>
            <a:t>Gathered feedback on preliminary findings</a:t>
          </a:r>
        </a:p>
        <a:p>
          <a:pPr marL="57150" lvl="1" indent="-57150" algn="l" defTabSz="400050">
            <a:lnSpc>
              <a:spcPct val="90000"/>
            </a:lnSpc>
            <a:spcBef>
              <a:spcPct val="0"/>
            </a:spcBef>
            <a:spcAft>
              <a:spcPct val="15000"/>
            </a:spcAft>
            <a:buChar char="•"/>
          </a:pPr>
          <a:r>
            <a:rPr lang="en-US" sz="900" kern="1200"/>
            <a:t>Example: Payment delay analysis sprint review showed Kruskal-Wallis results and boxplots; stakeholders asked "Can you compare all three score pairs?", prompting Dunn's post-hoc tests</a:t>
          </a:r>
        </a:p>
      </dsp:txBody>
      <dsp:txXfrm>
        <a:off x="2352794" y="2456915"/>
        <a:ext cx="2138904" cy="1796679"/>
      </dsp:txXfrm>
    </dsp:sp>
    <dsp:sp modelId="{759777A7-4928-4DEF-9AB4-4EAF750F1446}">
      <dsp:nvSpPr>
        <dsp:cNvPr id="0" name=""/>
        <dsp:cNvSpPr/>
      </dsp:nvSpPr>
      <dsp:spPr>
        <a:xfrm>
          <a:off x="2973076" y="1618465"/>
          <a:ext cx="898339" cy="898339"/>
        </a:xfrm>
        <a:prstGeom prst="ellipse">
          <a:avLst/>
        </a:prstGeom>
        <a:solidFill>
          <a:schemeClr val="accent5">
            <a:hueOff val="942713"/>
            <a:satOff val="-4508"/>
            <a:lumOff val="4941"/>
            <a:alphaOff val="0"/>
          </a:schemeClr>
        </a:solidFill>
        <a:ln w="15875" cap="flat" cmpd="sng" algn="ctr">
          <a:solidFill>
            <a:schemeClr val="accent5">
              <a:hueOff val="942713"/>
              <a:satOff val="-4508"/>
              <a:lumOff val="494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038" tIns="12700" rIns="70038" bIns="12700" numCol="1" spcCol="1270" anchor="ctr" anchorCtr="0">
          <a:noAutofit/>
        </a:bodyPr>
        <a:lstStyle/>
        <a:p>
          <a:pPr marL="0" lvl="0" indent="0" algn="ctr" defTabSz="1911350">
            <a:lnSpc>
              <a:spcPct val="90000"/>
            </a:lnSpc>
            <a:spcBef>
              <a:spcPct val="0"/>
            </a:spcBef>
            <a:spcAft>
              <a:spcPct val="35000"/>
            </a:spcAft>
            <a:buNone/>
          </a:pPr>
          <a:r>
            <a:rPr lang="en-US" sz="4300" kern="1200"/>
            <a:t>2</a:t>
          </a:r>
        </a:p>
      </dsp:txBody>
      <dsp:txXfrm>
        <a:off x="3104635" y="1750024"/>
        <a:ext cx="635221" cy="635221"/>
      </dsp:txXfrm>
    </dsp:sp>
    <dsp:sp modelId="{C8861348-883D-4A89-9672-52A8E9A3CEAA}">
      <dsp:nvSpPr>
        <dsp:cNvPr id="0" name=""/>
        <dsp:cNvSpPr/>
      </dsp:nvSpPr>
      <dsp:spPr>
        <a:xfrm>
          <a:off x="2352794" y="4313412"/>
          <a:ext cx="2138904" cy="72"/>
        </a:xfrm>
        <a:prstGeom prst="rect">
          <a:avLst/>
        </a:prstGeom>
        <a:solidFill>
          <a:schemeClr val="accent5">
            <a:hueOff val="1414070"/>
            <a:satOff val="-6762"/>
            <a:lumOff val="7412"/>
            <a:alphaOff val="0"/>
          </a:schemeClr>
        </a:solidFill>
        <a:ln w="15875" cap="flat" cmpd="sng" algn="ctr">
          <a:solidFill>
            <a:schemeClr val="accent5">
              <a:hueOff val="1414070"/>
              <a:satOff val="-6762"/>
              <a:lumOff val="741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CE9D8F9-B237-4766-A1F6-C873AE2FEAE1}">
      <dsp:nvSpPr>
        <dsp:cNvPr id="0" name=""/>
        <dsp:cNvSpPr/>
      </dsp:nvSpPr>
      <dsp:spPr>
        <a:xfrm>
          <a:off x="4705588" y="1319018"/>
          <a:ext cx="2138904" cy="2994465"/>
        </a:xfrm>
        <a:prstGeom prst="rect">
          <a:avLst/>
        </a:prstGeom>
        <a:solidFill>
          <a:schemeClr val="accent5">
            <a:tint val="40000"/>
            <a:alpha val="90000"/>
            <a:hueOff val="2605351"/>
            <a:satOff val="4796"/>
            <a:lumOff val="2125"/>
            <a:alphaOff val="0"/>
          </a:schemeClr>
        </a:solidFill>
        <a:ln w="15875" cap="flat" cmpd="sng" algn="ctr">
          <a:solidFill>
            <a:schemeClr val="accent5">
              <a:tint val="40000"/>
              <a:alpha val="90000"/>
              <a:hueOff val="2605351"/>
              <a:satOff val="4796"/>
              <a:lumOff val="212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6757" tIns="330200" rIns="166757" bIns="330200" numCol="1" spcCol="1270" anchor="t" anchorCtr="0">
          <a:noAutofit/>
        </a:bodyPr>
        <a:lstStyle/>
        <a:p>
          <a:pPr marL="0" lvl="0" indent="0" algn="l" defTabSz="488950">
            <a:lnSpc>
              <a:spcPct val="90000"/>
            </a:lnSpc>
            <a:spcBef>
              <a:spcPct val="0"/>
            </a:spcBef>
            <a:spcAft>
              <a:spcPct val="35000"/>
            </a:spcAft>
            <a:buNone/>
          </a:pPr>
          <a:r>
            <a:rPr lang="en-US" sz="1100" kern="1200"/>
            <a:t>Sprint Retrospectives (Every 2 weeks)</a:t>
          </a:r>
        </a:p>
        <a:p>
          <a:pPr marL="57150" lvl="1" indent="-57150" algn="l" defTabSz="400050">
            <a:lnSpc>
              <a:spcPct val="90000"/>
            </a:lnSpc>
            <a:spcBef>
              <a:spcPct val="0"/>
            </a:spcBef>
            <a:spcAft>
              <a:spcPct val="15000"/>
            </a:spcAft>
            <a:buChar char="•"/>
          </a:pPr>
          <a:r>
            <a:rPr lang="en-US" sz="900" kern="1200"/>
            <a:t>Reflected on what worked, what didn't</a:t>
          </a:r>
        </a:p>
        <a:p>
          <a:pPr marL="57150" lvl="1" indent="-57150" algn="l" defTabSz="400050">
            <a:lnSpc>
              <a:spcPct val="90000"/>
            </a:lnSpc>
            <a:spcBef>
              <a:spcPct val="0"/>
            </a:spcBef>
            <a:spcAft>
              <a:spcPct val="15000"/>
            </a:spcAft>
            <a:buChar char="•"/>
          </a:pPr>
          <a:r>
            <a:rPr lang="en-US" sz="900" kern="1200"/>
            <a:t>Accumulated lessons over project lifecycle</a:t>
          </a:r>
        </a:p>
        <a:p>
          <a:pPr marL="57150" lvl="1" indent="-57150" algn="l" defTabSz="400050">
            <a:lnSpc>
              <a:spcPct val="90000"/>
            </a:lnSpc>
            <a:spcBef>
              <a:spcPct val="0"/>
            </a:spcBef>
            <a:spcAft>
              <a:spcPct val="15000"/>
            </a:spcAft>
            <a:buChar char="•"/>
          </a:pPr>
          <a:r>
            <a:rPr lang="en-US" sz="900" kern="1200"/>
            <a:t>Example: "Small sprints enabled early detection of data quality issues; peer code review caught calculation errors; need visualization templates earlier"</a:t>
          </a:r>
        </a:p>
      </dsp:txBody>
      <dsp:txXfrm>
        <a:off x="4705588" y="2456915"/>
        <a:ext cx="2138904" cy="1796679"/>
      </dsp:txXfrm>
    </dsp:sp>
    <dsp:sp modelId="{FA2B7FF9-D288-4E9B-BE5F-68EC9580D4DA}">
      <dsp:nvSpPr>
        <dsp:cNvPr id="0" name=""/>
        <dsp:cNvSpPr/>
      </dsp:nvSpPr>
      <dsp:spPr>
        <a:xfrm>
          <a:off x="5325871" y="1618465"/>
          <a:ext cx="898339" cy="898339"/>
        </a:xfrm>
        <a:prstGeom prst="ellipse">
          <a:avLst/>
        </a:prstGeom>
        <a:solidFill>
          <a:schemeClr val="accent5">
            <a:hueOff val="1885427"/>
            <a:satOff val="-9016"/>
            <a:lumOff val="9882"/>
            <a:alphaOff val="0"/>
          </a:schemeClr>
        </a:solidFill>
        <a:ln w="15875" cap="flat" cmpd="sng" algn="ctr">
          <a:solidFill>
            <a:schemeClr val="accent5">
              <a:hueOff val="1885427"/>
              <a:satOff val="-9016"/>
              <a:lumOff val="988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038" tIns="12700" rIns="70038" bIns="12700" numCol="1" spcCol="1270" anchor="ctr" anchorCtr="0">
          <a:noAutofit/>
        </a:bodyPr>
        <a:lstStyle/>
        <a:p>
          <a:pPr marL="0" lvl="0" indent="0" algn="ctr" defTabSz="1911350">
            <a:lnSpc>
              <a:spcPct val="90000"/>
            </a:lnSpc>
            <a:spcBef>
              <a:spcPct val="0"/>
            </a:spcBef>
            <a:spcAft>
              <a:spcPct val="35000"/>
            </a:spcAft>
            <a:buNone/>
          </a:pPr>
          <a:r>
            <a:rPr lang="en-US" sz="4300" kern="1200"/>
            <a:t>3</a:t>
          </a:r>
        </a:p>
      </dsp:txBody>
      <dsp:txXfrm>
        <a:off x="5457430" y="1750024"/>
        <a:ext cx="635221" cy="635221"/>
      </dsp:txXfrm>
    </dsp:sp>
    <dsp:sp modelId="{2443B340-21F5-4299-8CB3-88817F9195F6}">
      <dsp:nvSpPr>
        <dsp:cNvPr id="0" name=""/>
        <dsp:cNvSpPr/>
      </dsp:nvSpPr>
      <dsp:spPr>
        <a:xfrm>
          <a:off x="4705588" y="4313412"/>
          <a:ext cx="2138904" cy="72"/>
        </a:xfrm>
        <a:prstGeom prst="rect">
          <a:avLst/>
        </a:prstGeom>
        <a:solidFill>
          <a:schemeClr val="accent5">
            <a:hueOff val="2356783"/>
            <a:satOff val="-11270"/>
            <a:lumOff val="12353"/>
            <a:alphaOff val="0"/>
          </a:schemeClr>
        </a:solidFill>
        <a:ln w="15875" cap="flat" cmpd="sng" algn="ctr">
          <a:solidFill>
            <a:schemeClr val="accent5">
              <a:hueOff val="2356783"/>
              <a:satOff val="-11270"/>
              <a:lumOff val="1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379E5A-F2FD-4C62-A1C5-A16C7108DA9D}" type="datetimeFigureOut">
              <a:rPr lang="en-IN" smtClean="0"/>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B1D66-EB56-4EDE-B3DA-15A3A9BBF7F1}" type="slidenum">
              <a:rPr lang="en-IN" smtClean="0"/>
              <a:t>‹#›</a:t>
            </a:fld>
            <a:endParaRPr lang="en-IN"/>
          </a:p>
        </p:txBody>
      </p:sp>
    </p:spTree>
    <p:extLst>
      <p:ext uri="{BB962C8B-B14F-4D97-AF65-F5344CB8AC3E}">
        <p14:creationId xmlns:p14="http://schemas.microsoft.com/office/powerpoint/2010/main" val="1966149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1</a:t>
            </a:fld>
            <a:endParaRPr lang="en-IN"/>
          </a:p>
        </p:txBody>
      </p:sp>
    </p:spTree>
    <p:extLst>
      <p:ext uri="{BB962C8B-B14F-4D97-AF65-F5344CB8AC3E}">
        <p14:creationId xmlns:p14="http://schemas.microsoft.com/office/powerpoint/2010/main" val="862554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2</a:t>
            </a:fld>
            <a:endParaRPr lang="en-IN"/>
          </a:p>
        </p:txBody>
      </p:sp>
    </p:spTree>
    <p:extLst>
      <p:ext uri="{BB962C8B-B14F-4D97-AF65-F5344CB8AC3E}">
        <p14:creationId xmlns:p14="http://schemas.microsoft.com/office/powerpoint/2010/main" val="1830332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BB1D66-EB56-4EDE-B3DA-15A3A9BBF7F1}" type="slidenum">
              <a:rPr lang="en-IN" smtClean="0"/>
              <a:t>3</a:t>
            </a:fld>
            <a:endParaRPr lang="en-IN"/>
          </a:p>
        </p:txBody>
      </p:sp>
    </p:spTree>
    <p:extLst>
      <p:ext uri="{BB962C8B-B14F-4D97-AF65-F5344CB8AC3E}">
        <p14:creationId xmlns:p14="http://schemas.microsoft.com/office/powerpoint/2010/main" val="185614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4</a:t>
            </a:fld>
            <a:endParaRPr lang="en-IN"/>
          </a:p>
        </p:txBody>
      </p:sp>
    </p:spTree>
    <p:extLst>
      <p:ext uri="{BB962C8B-B14F-4D97-AF65-F5344CB8AC3E}">
        <p14:creationId xmlns:p14="http://schemas.microsoft.com/office/powerpoint/2010/main" val="1616577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5</a:t>
            </a:fld>
            <a:endParaRPr lang="en-IN"/>
          </a:p>
        </p:txBody>
      </p:sp>
    </p:spTree>
    <p:extLst>
      <p:ext uri="{BB962C8B-B14F-4D97-AF65-F5344CB8AC3E}">
        <p14:creationId xmlns:p14="http://schemas.microsoft.com/office/powerpoint/2010/main" val="2335107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6</a:t>
            </a:fld>
            <a:endParaRPr lang="en-IN"/>
          </a:p>
        </p:txBody>
      </p:sp>
    </p:spTree>
    <p:extLst>
      <p:ext uri="{BB962C8B-B14F-4D97-AF65-F5344CB8AC3E}">
        <p14:creationId xmlns:p14="http://schemas.microsoft.com/office/powerpoint/2010/main" val="1107169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7</a:t>
            </a:fld>
            <a:endParaRPr lang="en-IN"/>
          </a:p>
        </p:txBody>
      </p:sp>
    </p:spTree>
    <p:extLst>
      <p:ext uri="{BB962C8B-B14F-4D97-AF65-F5344CB8AC3E}">
        <p14:creationId xmlns:p14="http://schemas.microsoft.com/office/powerpoint/2010/main" val="2237908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8</a:t>
            </a:fld>
            <a:endParaRPr lang="en-IN"/>
          </a:p>
        </p:txBody>
      </p:sp>
    </p:spTree>
    <p:extLst>
      <p:ext uri="{BB962C8B-B14F-4D97-AF65-F5344CB8AC3E}">
        <p14:creationId xmlns:p14="http://schemas.microsoft.com/office/powerpoint/2010/main" val="745675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9</a:t>
            </a:fld>
            <a:endParaRPr lang="en-IN"/>
          </a:p>
        </p:txBody>
      </p:sp>
    </p:spTree>
    <p:extLst>
      <p:ext uri="{BB962C8B-B14F-4D97-AF65-F5344CB8AC3E}">
        <p14:creationId xmlns:p14="http://schemas.microsoft.com/office/powerpoint/2010/main" val="41686439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BB1D66-EB56-4EDE-B3DA-15A3A9BBF7F1}" type="slidenum">
              <a:rPr lang="en-IN" smtClean="0"/>
              <a:t>10</a:t>
            </a:fld>
            <a:endParaRPr lang="en-IN"/>
          </a:p>
        </p:txBody>
      </p:sp>
    </p:spTree>
    <p:extLst>
      <p:ext uri="{BB962C8B-B14F-4D97-AF65-F5344CB8AC3E}">
        <p14:creationId xmlns:p14="http://schemas.microsoft.com/office/powerpoint/2010/main" val="2396019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11</a:t>
            </a:fld>
            <a:endParaRPr lang="en-IN"/>
          </a:p>
        </p:txBody>
      </p:sp>
    </p:spTree>
    <p:extLst>
      <p:ext uri="{BB962C8B-B14F-4D97-AF65-F5344CB8AC3E}">
        <p14:creationId xmlns:p14="http://schemas.microsoft.com/office/powerpoint/2010/main" val="2798953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BB1D66-EB56-4EDE-B3DA-15A3A9BBF7F1}" type="slidenum">
              <a:rPr lang="en-IN" smtClean="0"/>
              <a:t>12</a:t>
            </a:fld>
            <a:endParaRPr lang="en-IN"/>
          </a:p>
        </p:txBody>
      </p:sp>
    </p:spTree>
    <p:extLst>
      <p:ext uri="{BB962C8B-B14F-4D97-AF65-F5344CB8AC3E}">
        <p14:creationId xmlns:p14="http://schemas.microsoft.com/office/powerpoint/2010/main" val="516555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BB1D66-EB56-4EDE-B3DA-15A3A9BBF7F1}" type="slidenum">
              <a:rPr lang="en-IN" smtClean="0"/>
              <a:t>13</a:t>
            </a:fld>
            <a:endParaRPr lang="en-IN"/>
          </a:p>
        </p:txBody>
      </p:sp>
    </p:spTree>
    <p:extLst>
      <p:ext uri="{BB962C8B-B14F-4D97-AF65-F5344CB8AC3E}">
        <p14:creationId xmlns:p14="http://schemas.microsoft.com/office/powerpoint/2010/main" val="3715050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1BB1D66-EB56-4EDE-B3DA-15A3A9BBF7F1}" type="slidenum">
              <a:rPr lang="en-IN" smtClean="0"/>
              <a:t>14</a:t>
            </a:fld>
            <a:endParaRPr lang="en-IN"/>
          </a:p>
        </p:txBody>
      </p:sp>
    </p:spTree>
    <p:extLst>
      <p:ext uri="{BB962C8B-B14F-4D97-AF65-F5344CB8AC3E}">
        <p14:creationId xmlns:p14="http://schemas.microsoft.com/office/powerpoint/2010/main" val="418942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1BB1D66-EB56-4EDE-B3DA-15A3A9BBF7F1}" type="slidenum">
              <a:rPr lang="en-IN" smtClean="0"/>
              <a:t>15</a:t>
            </a:fld>
            <a:endParaRPr lang="en-IN"/>
          </a:p>
        </p:txBody>
      </p:sp>
    </p:spTree>
    <p:extLst>
      <p:ext uri="{BB962C8B-B14F-4D97-AF65-F5344CB8AC3E}">
        <p14:creationId xmlns:p14="http://schemas.microsoft.com/office/powerpoint/2010/main" val="454150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12/17/2025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25869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12/17/2025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70114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12/17/2025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3011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12/17/2025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6606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12/17/2025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65065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12/17/2025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4426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12/17/2025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7195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12/17/2025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34252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12/17/2025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06052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12/17/2025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79123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12/17/2025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86351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12/17/2025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168541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pn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ED8893-A0FF-0682-39DF-0B6CE95E0BA4}"/>
              </a:ext>
            </a:extLst>
          </p:cNvPr>
          <p:cNvSpPr>
            <a:spLocks noGrp="1"/>
          </p:cNvSpPr>
          <p:nvPr>
            <p:ph type="ctrTitle"/>
          </p:nvPr>
        </p:nvSpPr>
        <p:spPr>
          <a:xfrm>
            <a:off x="5289754" y="639097"/>
            <a:ext cx="6253317" cy="3686015"/>
          </a:xfrm>
        </p:spPr>
        <p:txBody>
          <a:bodyPr>
            <a:normAutofit/>
          </a:bodyPr>
          <a:lstStyle/>
          <a:p>
            <a:r>
              <a:rPr lang="en-US" sz="5000"/>
              <a:t>Two-Level Hybrid Frameworks: Optimizing Project Management for Data-Driven Analytics</a:t>
            </a:r>
            <a:endParaRPr lang="en-IN" sz="5000"/>
          </a:p>
        </p:txBody>
      </p:sp>
      <p:sp>
        <p:nvSpPr>
          <p:cNvPr id="3" name="Subtitle 2">
            <a:extLst>
              <a:ext uri="{FF2B5EF4-FFF2-40B4-BE49-F238E27FC236}">
                <a16:creationId xmlns:a16="http://schemas.microsoft.com/office/drawing/2014/main" id="{6EA19151-A0F1-D328-3047-427B2C070EFA}"/>
              </a:ext>
            </a:extLst>
          </p:cNvPr>
          <p:cNvSpPr>
            <a:spLocks noGrp="1"/>
          </p:cNvSpPr>
          <p:nvPr>
            <p:ph type="subTitle" idx="1"/>
          </p:nvPr>
        </p:nvSpPr>
        <p:spPr>
          <a:xfrm>
            <a:off x="5289753" y="4672739"/>
            <a:ext cx="6269347" cy="1021498"/>
          </a:xfrm>
        </p:spPr>
        <p:txBody>
          <a:bodyPr>
            <a:normAutofit/>
          </a:bodyPr>
          <a:lstStyle/>
          <a:p>
            <a:r>
              <a:rPr lang="en-US" i="1">
                <a:solidFill>
                  <a:schemeClr val="tx1">
                    <a:lumMod val="85000"/>
                    <a:lumOff val="15000"/>
                  </a:schemeClr>
                </a:solidFill>
              </a:rPr>
              <a:t>A Case Study in Credit Score Classification</a:t>
            </a:r>
            <a:endParaRPr lang="en-IN">
              <a:solidFill>
                <a:schemeClr val="tx1">
                  <a:lumMod val="85000"/>
                  <a:lumOff val="15000"/>
                </a:schemeClr>
              </a:solidFill>
            </a:endParaRPr>
          </a:p>
        </p:txBody>
      </p:sp>
      <p:pic>
        <p:nvPicPr>
          <p:cNvPr id="16" name="Picture 15">
            <a:extLst>
              <a:ext uri="{FF2B5EF4-FFF2-40B4-BE49-F238E27FC236}">
                <a16:creationId xmlns:a16="http://schemas.microsoft.com/office/drawing/2014/main" id="{308CFC25-2B42-3ADA-D83C-92D78C1E05CC}"/>
              </a:ext>
            </a:extLst>
          </p:cNvPr>
          <p:cNvPicPr>
            <a:picLocks noChangeAspect="1"/>
          </p:cNvPicPr>
          <p:nvPr/>
        </p:nvPicPr>
        <p:blipFill>
          <a:blip r:embed="rId3"/>
          <a:srcRect l="50645" r="4275"/>
          <a:stretch>
            <a:fillRect/>
          </a:stretch>
        </p:blipFill>
        <p:spPr>
          <a:xfrm>
            <a:off x="-1" y="2"/>
            <a:ext cx="4635315" cy="6400798"/>
          </a:xfrm>
          <a:prstGeom prst="rect">
            <a:avLst/>
          </a:prstGeom>
        </p:spPr>
      </p:pic>
      <p:cxnSp>
        <p:nvCxnSpPr>
          <p:cNvPr id="17" name="!!Straight Connector">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B0A5E7FB-1FB5-4C57-9C8C-70E550767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009338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64BBAA4-C62B-4146-B49F-FE4CC4655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61136-D557-BAA8-5919-F4B44E3226C6}"/>
              </a:ext>
            </a:extLst>
          </p:cNvPr>
          <p:cNvSpPr>
            <a:spLocks noGrp="1"/>
          </p:cNvSpPr>
          <p:nvPr>
            <p:ph type="title"/>
          </p:nvPr>
        </p:nvSpPr>
        <p:spPr>
          <a:xfrm>
            <a:off x="878911" y="643468"/>
            <a:ext cx="3177847" cy="1674180"/>
          </a:xfrm>
        </p:spPr>
        <p:txBody>
          <a:bodyPr>
            <a:normAutofit/>
          </a:bodyPr>
          <a:lstStyle/>
          <a:p>
            <a:r>
              <a:rPr lang="en-US" sz="3400"/>
              <a:t>The Challenge: Managing Data Analysis Projects</a:t>
            </a:r>
            <a:endParaRPr lang="en-IN" sz="3400"/>
          </a:p>
        </p:txBody>
      </p:sp>
      <p:cxnSp>
        <p:nvCxnSpPr>
          <p:cNvPr id="31" name="Straight Connector 30">
            <a:extLst>
              <a:ext uri="{FF2B5EF4-FFF2-40B4-BE49-F238E27FC236}">
                <a16:creationId xmlns:a16="http://schemas.microsoft.com/office/drawing/2014/main" id="{EEB57AA8-F021-480C-A9E2-F899133136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62164" y="2478513"/>
            <a:ext cx="292608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screenshot of a diagram&#10;&#10;AI-generated content may be incorrect.">
            <a:extLst>
              <a:ext uri="{FF2B5EF4-FFF2-40B4-BE49-F238E27FC236}">
                <a16:creationId xmlns:a16="http://schemas.microsoft.com/office/drawing/2014/main" id="{221861E9-9417-1C8F-8886-288D821E660C}"/>
              </a:ext>
            </a:extLst>
          </p:cNvPr>
          <p:cNvPicPr>
            <a:picLocks noChangeAspect="1"/>
          </p:cNvPicPr>
          <p:nvPr/>
        </p:nvPicPr>
        <p:blipFill>
          <a:blip r:embed="rId3"/>
          <a:stretch>
            <a:fillRect/>
          </a:stretch>
        </p:blipFill>
        <p:spPr>
          <a:xfrm>
            <a:off x="4653447" y="955885"/>
            <a:ext cx="6892560" cy="4600783"/>
          </a:xfrm>
          <a:prstGeom prst="rect">
            <a:avLst/>
          </a:prstGeom>
        </p:spPr>
      </p:pic>
      <p:sp>
        <p:nvSpPr>
          <p:cNvPr id="32" name="Rectangle 31">
            <a:extLst>
              <a:ext uri="{FF2B5EF4-FFF2-40B4-BE49-F238E27FC236}">
                <a16:creationId xmlns:a16="http://schemas.microsoft.com/office/drawing/2014/main" id="{6BF36B24-6632-4516-9692-73146289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1212B7E2-8D51-4CB4-7C6E-C6B4B3943A1C}"/>
              </a:ext>
            </a:extLst>
          </p:cNvPr>
          <p:cNvGraphicFramePr>
            <a:graphicFrameLocks noGrp="1"/>
          </p:cNvGraphicFramePr>
          <p:nvPr>
            <p:ph idx="1"/>
            <p:extLst>
              <p:ext uri="{D42A27DB-BD31-4B8C-83A1-F6EECF244321}">
                <p14:modId xmlns:p14="http://schemas.microsoft.com/office/powerpoint/2010/main" val="116368677"/>
              </p:ext>
            </p:extLst>
          </p:nvPr>
        </p:nvGraphicFramePr>
        <p:xfrm>
          <a:off x="324465" y="2566220"/>
          <a:ext cx="4984954" cy="34216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00198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33628-F062-F9C4-402B-A77AE7A9EB43}"/>
              </a:ext>
            </a:extLst>
          </p:cNvPr>
          <p:cNvSpPr>
            <a:spLocks noGrp="1"/>
          </p:cNvSpPr>
          <p:nvPr>
            <p:ph type="title"/>
          </p:nvPr>
        </p:nvSpPr>
        <p:spPr>
          <a:xfrm>
            <a:off x="1097280" y="286603"/>
            <a:ext cx="10058400" cy="1450757"/>
          </a:xfrm>
        </p:spPr>
        <p:txBody>
          <a:bodyPr>
            <a:normAutofit/>
          </a:bodyPr>
          <a:lstStyle/>
          <a:p>
            <a:r>
              <a:rPr lang="en-US" dirty="0"/>
              <a:t>The Thesis: Integration Over Binary Choice</a:t>
            </a:r>
            <a:endParaRPr lang="en-IN" dirty="0"/>
          </a:p>
        </p:txBody>
      </p:sp>
      <p:cxnSp>
        <p:nvCxnSpPr>
          <p:cNvPr id="17" name="Straight Connector 16">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diagram of a diagram of a company&#10;&#10;AI-generated content may be incorrect.">
            <a:extLst>
              <a:ext uri="{FF2B5EF4-FFF2-40B4-BE49-F238E27FC236}">
                <a16:creationId xmlns:a16="http://schemas.microsoft.com/office/drawing/2014/main" id="{D94275F1-AA6B-13E0-12A3-C022A96FD855}"/>
              </a:ext>
            </a:extLst>
          </p:cNvPr>
          <p:cNvPicPr>
            <a:picLocks noChangeAspect="1"/>
          </p:cNvPicPr>
          <p:nvPr/>
        </p:nvPicPr>
        <p:blipFill>
          <a:blip r:embed="rId3"/>
          <a:stretch>
            <a:fillRect/>
          </a:stretch>
        </p:blipFill>
        <p:spPr>
          <a:xfrm>
            <a:off x="8129006" y="2939321"/>
            <a:ext cx="3144043" cy="2098648"/>
          </a:xfrm>
          <a:prstGeom prst="rect">
            <a:avLst/>
          </a:prstGeom>
        </p:spPr>
      </p:pic>
      <p:sp>
        <p:nvSpPr>
          <p:cNvPr id="18" name="Rectangle 17">
            <a:extLst>
              <a:ext uri="{FF2B5EF4-FFF2-40B4-BE49-F238E27FC236}">
                <a16:creationId xmlns:a16="http://schemas.microsoft.com/office/drawing/2014/main" id="{CB06839E-D8C3-4A74-BA2B-3B97E7B2C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0F223D00-4660-55A3-567F-C46C32FC2FAD}"/>
              </a:ext>
            </a:extLst>
          </p:cNvPr>
          <p:cNvGraphicFramePr>
            <a:graphicFrameLocks noGrp="1"/>
          </p:cNvGraphicFramePr>
          <p:nvPr>
            <p:ph idx="1"/>
            <p:extLst>
              <p:ext uri="{D42A27DB-BD31-4B8C-83A1-F6EECF244321}">
                <p14:modId xmlns:p14="http://schemas.microsoft.com/office/powerpoint/2010/main" val="3859554899"/>
              </p:ext>
            </p:extLst>
          </p:nvPr>
        </p:nvGraphicFramePr>
        <p:xfrm>
          <a:off x="196646" y="1895846"/>
          <a:ext cx="7787148" cy="45049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70809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5C847DB-5417-BDCD-F8CF-969471DAE79E}"/>
              </a:ext>
            </a:extLst>
          </p:cNvPr>
          <p:cNvSpPr>
            <a:spLocks noGrp="1"/>
          </p:cNvSpPr>
          <p:nvPr>
            <p:ph type="title"/>
          </p:nvPr>
        </p:nvSpPr>
        <p:spPr>
          <a:xfrm>
            <a:off x="643467" y="516835"/>
            <a:ext cx="3448259" cy="1666501"/>
          </a:xfrm>
        </p:spPr>
        <p:txBody>
          <a:bodyPr vert="horz" lIns="91440" tIns="45720" rIns="91440" bIns="45720" rtlCol="0" anchor="b">
            <a:normAutofit/>
          </a:bodyPr>
          <a:lstStyle/>
          <a:p>
            <a:r>
              <a:rPr lang="en-US" sz="3700">
                <a:solidFill>
                  <a:srgbClr val="FFFFFF"/>
                </a:solidFill>
              </a:rPr>
              <a:t>Waterfall Architecture: Seven Phases</a:t>
            </a:r>
          </a:p>
        </p:txBody>
      </p:sp>
      <p:cxnSp>
        <p:nvCxnSpPr>
          <p:cNvPr id="17" name="Straight Connector 16">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73CB65C-5B03-6C3D-8CAE-04D93501413F}"/>
              </a:ext>
            </a:extLst>
          </p:cNvPr>
          <p:cNvSpPr txBox="1"/>
          <p:nvPr/>
        </p:nvSpPr>
        <p:spPr>
          <a:xfrm>
            <a:off x="643467" y="2546224"/>
            <a:ext cx="3657228" cy="4206266"/>
          </a:xfrm>
          <a:prstGeom prst="rect">
            <a:avLst/>
          </a:prstGeom>
        </p:spPr>
        <p:txBody>
          <a:bodyPr vert="horz" lIns="0" tIns="45720" rIns="0" bIns="45720" rtlCol="0">
            <a:normAutofit/>
          </a:bodyPr>
          <a:lstStyle/>
          <a:p>
            <a:pPr>
              <a:lnSpc>
                <a:spcPct val="90000"/>
              </a:lnSpc>
              <a:spcAft>
                <a:spcPts val="600"/>
              </a:spcAft>
              <a:buFont typeface="Calibri" panose="020F0502020204030204" pitchFamily="34" charset="0"/>
            </a:pPr>
            <a:r>
              <a:rPr lang="en-US" sz="1400" dirty="0">
                <a:solidFill>
                  <a:srgbClr val="FFFFFF"/>
                </a:solidFill>
              </a:rPr>
              <a:t>Phase Overview (Brief):</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1: System Requirements - Define research questions and success metrics</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2: Software/Project Requirements - Data exploration and quality assessment</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3: Analysis Planning - Select statistical methods and analytical approach</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4: Program Design - Specify data transformation, modeling, and visualization pipelines</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5: Coding &amp; Implementation - Execute analysis scripts and build models</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6: Testing &amp; Verification - Validate outputs and assess model performance</a:t>
            </a:r>
          </a:p>
          <a:p>
            <a:pPr marL="285750" indent="-285750">
              <a:lnSpc>
                <a:spcPct val="90000"/>
              </a:lnSpc>
              <a:spcAft>
                <a:spcPts val="600"/>
              </a:spcAft>
              <a:buFont typeface="Calibri" panose="020F0502020204030204" pitchFamily="34" charset="0"/>
              <a:buChar char="•"/>
            </a:pPr>
            <a:r>
              <a:rPr lang="en-US" sz="1400" dirty="0">
                <a:solidFill>
                  <a:srgbClr val="FFFFFF"/>
                </a:solidFill>
              </a:rPr>
              <a:t>Phase 7: Operations &amp; Maintenance - Document findings and prepare knowledge transfer</a:t>
            </a:r>
          </a:p>
          <a:p>
            <a:pPr>
              <a:lnSpc>
                <a:spcPct val="90000"/>
              </a:lnSpc>
              <a:spcAft>
                <a:spcPts val="600"/>
              </a:spcAft>
              <a:buFont typeface="Calibri" panose="020F0502020204030204" pitchFamily="34" charset="0"/>
            </a:pPr>
            <a:endParaRPr lang="en-US" sz="1400" dirty="0">
              <a:solidFill>
                <a:srgbClr val="FFFFFF"/>
              </a:solidFill>
            </a:endParaRPr>
          </a:p>
        </p:txBody>
      </p:sp>
      <p:pic>
        <p:nvPicPr>
          <p:cNvPr id="4" name="Content Placeholder 3" descr="A diagram of a program&#10;&#10;AI-generated content may be incorrect.">
            <a:extLst>
              <a:ext uri="{FF2B5EF4-FFF2-40B4-BE49-F238E27FC236}">
                <a16:creationId xmlns:a16="http://schemas.microsoft.com/office/drawing/2014/main" id="{B793A3DA-A274-AC7A-4624-65752F57914B}"/>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b="35630"/>
          <a:stretch>
            <a:fillRect/>
          </a:stretch>
        </p:blipFill>
        <p:spPr bwMode="auto">
          <a:xfrm>
            <a:off x="4654296" y="10"/>
            <a:ext cx="7537703" cy="6857990"/>
          </a:xfrm>
          <a:prstGeom prst="rect">
            <a:avLst/>
          </a:prstGeom>
          <a:noFill/>
          <a:extLst>
            <a:ext uri="{53640926-AAD7-44D8-BBD7-CCE9431645EC}">
              <a14:shadowObscured xmlns:a14="http://schemas.microsoft.com/office/drawing/2010/main"/>
            </a:ext>
          </a:extLst>
        </p:spPr>
      </p:pic>
    </p:spTree>
    <p:extLst>
      <p:ext uri="{BB962C8B-B14F-4D97-AF65-F5344CB8AC3E}">
        <p14:creationId xmlns:p14="http://schemas.microsoft.com/office/powerpoint/2010/main" val="311119729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8834FC-A554-E80D-2804-E2AFF97E6977}"/>
              </a:ext>
            </a:extLst>
          </p:cNvPr>
          <p:cNvSpPr>
            <a:spLocks noGrp="1"/>
          </p:cNvSpPr>
          <p:nvPr>
            <p:ph type="title"/>
          </p:nvPr>
        </p:nvSpPr>
        <p:spPr>
          <a:xfrm>
            <a:off x="1097280" y="286603"/>
            <a:ext cx="6437363" cy="1450757"/>
          </a:xfrm>
        </p:spPr>
        <p:txBody>
          <a:bodyPr>
            <a:normAutofit/>
          </a:bodyPr>
          <a:lstStyle/>
          <a:p>
            <a:r>
              <a:rPr lang="en-US"/>
              <a:t>Agile at the Tactical Level: Minimum Units of Work</a:t>
            </a:r>
            <a:endParaRPr lang="en-IN" dirty="0"/>
          </a:p>
        </p:txBody>
      </p:sp>
      <p:cxnSp>
        <p:nvCxnSpPr>
          <p:cNvPr id="47" name="Straight Connector 46">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5846"/>
            <a:ext cx="62179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A white and blue sign with green check marks and green ticks&#10;&#10;AI-generated content may be incorrect.">
            <a:extLst>
              <a:ext uri="{FF2B5EF4-FFF2-40B4-BE49-F238E27FC236}">
                <a16:creationId xmlns:a16="http://schemas.microsoft.com/office/drawing/2014/main" id="{1D8E2510-27AE-56F6-98D3-2225056A3835}"/>
              </a:ext>
            </a:extLst>
          </p:cNvPr>
          <p:cNvPicPr>
            <a:picLocks noChangeAspect="1"/>
          </p:cNvPicPr>
          <p:nvPr/>
        </p:nvPicPr>
        <p:blipFill>
          <a:blip r:embed="rId3"/>
          <a:srcRect l="11680" t="6662" r="12452" b="11017"/>
          <a:stretch>
            <a:fillRect/>
          </a:stretch>
        </p:blipFill>
        <p:spPr>
          <a:xfrm>
            <a:off x="7762875" y="2154671"/>
            <a:ext cx="3907709" cy="2830287"/>
          </a:xfrm>
          <a:prstGeom prst="rect">
            <a:avLst/>
          </a:prstGeom>
        </p:spPr>
      </p:pic>
      <p:sp>
        <p:nvSpPr>
          <p:cNvPr id="49" name="Rectangle 48">
            <a:extLst>
              <a:ext uri="{FF2B5EF4-FFF2-40B4-BE49-F238E27FC236}">
                <a16:creationId xmlns:a16="http://schemas.microsoft.com/office/drawing/2014/main" id="{FEC9799F-A0B8-45B9-8164-71F283892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31" name="TextBox 9">
            <a:extLst>
              <a:ext uri="{FF2B5EF4-FFF2-40B4-BE49-F238E27FC236}">
                <a16:creationId xmlns:a16="http://schemas.microsoft.com/office/drawing/2014/main" id="{3BDC694E-EB88-2AAD-DEC0-A0F7877ACF89}"/>
              </a:ext>
            </a:extLst>
          </p:cNvPr>
          <p:cNvGraphicFramePr/>
          <p:nvPr>
            <p:extLst>
              <p:ext uri="{D42A27DB-BD31-4B8C-83A1-F6EECF244321}">
                <p14:modId xmlns:p14="http://schemas.microsoft.com/office/powerpoint/2010/main" val="158302779"/>
              </p:ext>
            </p:extLst>
          </p:nvPr>
        </p:nvGraphicFramePr>
        <p:xfrm>
          <a:off x="1097281" y="2108201"/>
          <a:ext cx="6388242" cy="3760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06202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BDBE5C-BBE9-4E89-BEE5-DEB6EAB87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384D03-5622-9BBA-B970-EE18F6091B39}"/>
              </a:ext>
            </a:extLst>
          </p:cNvPr>
          <p:cNvSpPr>
            <a:spLocks noGrp="1"/>
          </p:cNvSpPr>
          <p:nvPr>
            <p:ph type="title"/>
          </p:nvPr>
        </p:nvSpPr>
        <p:spPr>
          <a:xfrm>
            <a:off x="643467" y="634946"/>
            <a:ext cx="3689094" cy="5055904"/>
          </a:xfrm>
        </p:spPr>
        <p:txBody>
          <a:bodyPr anchor="ctr">
            <a:normAutofit/>
          </a:bodyPr>
          <a:lstStyle/>
          <a:p>
            <a:pPr algn="r"/>
            <a:r>
              <a:rPr lang="en-US" dirty="0"/>
              <a:t>Agile Execution: Sprint Ceremonies Within Phases</a:t>
            </a:r>
            <a:endParaRPr lang="en-IN" dirty="0"/>
          </a:p>
        </p:txBody>
      </p:sp>
      <p:cxnSp>
        <p:nvCxnSpPr>
          <p:cNvPr id="11" name="Straight Connector 10">
            <a:extLst>
              <a:ext uri="{FF2B5EF4-FFF2-40B4-BE49-F238E27FC236}">
                <a16:creationId xmlns:a16="http://schemas.microsoft.com/office/drawing/2014/main" id="{2752F38C-F560-47AA-90AD-209F39C04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791298"/>
            <a:ext cx="0" cy="27432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FC4168B-AA75-4715-9B96-CF84B170A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A7FE9377-5B67-C715-BA4A-730FF95D5B05}"/>
              </a:ext>
            </a:extLst>
          </p:cNvPr>
          <p:cNvGraphicFramePr>
            <a:graphicFrameLocks noGrp="1"/>
          </p:cNvGraphicFramePr>
          <p:nvPr>
            <p:ph idx="1"/>
            <p:extLst>
              <p:ext uri="{D42A27DB-BD31-4B8C-83A1-F6EECF244321}">
                <p14:modId xmlns:p14="http://schemas.microsoft.com/office/powerpoint/2010/main" val="3415797087"/>
              </p:ext>
            </p:extLst>
          </p:nvPr>
        </p:nvGraphicFramePr>
        <p:xfrm>
          <a:off x="4976031" y="634946"/>
          <a:ext cx="6844493" cy="5632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7021F193-65A4-F4F2-BF37-1A63353F6B90}"/>
              </a:ext>
            </a:extLst>
          </p:cNvPr>
          <p:cNvSpPr txBox="1"/>
          <p:nvPr/>
        </p:nvSpPr>
        <p:spPr>
          <a:xfrm>
            <a:off x="723122" y="5233822"/>
            <a:ext cx="3619495" cy="646331"/>
          </a:xfrm>
          <a:prstGeom prst="rect">
            <a:avLst/>
          </a:prstGeom>
          <a:noFill/>
        </p:spPr>
        <p:txBody>
          <a:bodyPr wrap="square" rtlCol="0">
            <a:spAutoFit/>
          </a:bodyPr>
          <a:lstStyle/>
          <a:p>
            <a:r>
              <a:rPr lang="en-US" dirty="0"/>
              <a:t>Sprint Structure: 2-week cycles with consistent ceremonies</a:t>
            </a:r>
            <a:endParaRPr lang="en-IN" dirty="0"/>
          </a:p>
        </p:txBody>
      </p:sp>
    </p:spTree>
    <p:extLst>
      <p:ext uri="{BB962C8B-B14F-4D97-AF65-F5344CB8AC3E}">
        <p14:creationId xmlns:p14="http://schemas.microsoft.com/office/powerpoint/2010/main" val="1120258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5" name="Rectangle 1034">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037" name="Straight Connector 1036">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039" name="Rectangle 1038">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FE361E39-E9C4-15A1-DE4B-2DD627AA03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633" r="26247" b="1"/>
          <a:stretch>
            <a:fillRect/>
          </a:stretch>
        </p:blipFill>
        <p:spPr bwMode="auto">
          <a:xfrm>
            <a:off x="20" y="10"/>
            <a:ext cx="4580077" cy="6400784"/>
          </a:xfrm>
          <a:prstGeom prst="rect">
            <a:avLst/>
          </a:prstGeom>
          <a:noFill/>
          <a:extLst>
            <a:ext uri="{909E8E84-426E-40DD-AFC4-6F175D3DCCD1}">
              <a14:hiddenFill xmlns:a14="http://schemas.microsoft.com/office/drawing/2010/main">
                <a:solidFill>
                  <a:srgbClr val="FFFFFF"/>
                </a:solidFill>
              </a14:hiddenFill>
            </a:ext>
          </a:extLst>
        </p:spPr>
      </p:pic>
      <p:cxnSp>
        <p:nvCxnSpPr>
          <p:cNvPr id="1041" name="!!Straight Connector">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AD7BA4E-97CB-012D-0663-608F0E522130}"/>
              </a:ext>
            </a:extLst>
          </p:cNvPr>
          <p:cNvSpPr txBox="1"/>
          <p:nvPr/>
        </p:nvSpPr>
        <p:spPr>
          <a:xfrm>
            <a:off x="5172074" y="2108201"/>
            <a:ext cx="5983606" cy="3760891"/>
          </a:xfrm>
          <a:prstGeom prst="rect">
            <a:avLst/>
          </a:prstGeom>
        </p:spPr>
        <p:txBody>
          <a:bodyPr vert="horz" lIns="0" tIns="45720" rIns="0" bIns="45720" rtlCol="0">
            <a:normAutofit/>
          </a:bodyPr>
          <a:lstStyle/>
          <a:p>
            <a:pPr>
              <a:lnSpc>
                <a:spcPct val="90000"/>
              </a:lnSpc>
              <a:spcAft>
                <a:spcPts val="600"/>
              </a:spcAft>
              <a:buFont typeface="Calibri" panose="020F0502020204030204" pitchFamily="34" charset="0"/>
            </a:pPr>
            <a:r>
              <a:rPr lang="en-US" sz="1700">
                <a:solidFill>
                  <a:schemeClr val="tx1">
                    <a:lumMod val="75000"/>
                    <a:lumOff val="25000"/>
                  </a:schemeClr>
                </a:solidFill>
              </a:rPr>
              <a:t>The hybrid framework operates on two integrated levels that work synergistically. Rather than viewing Waterfall and Agile as competing methodologies, this model demonstrates how they complement each other perfectly for data analysis projects. </a:t>
            </a:r>
          </a:p>
          <a:p>
            <a:pPr>
              <a:lnSpc>
                <a:spcPct val="90000"/>
              </a:lnSpc>
              <a:spcAft>
                <a:spcPts val="600"/>
              </a:spcAft>
              <a:buFont typeface="Calibri" panose="020F0502020204030204" pitchFamily="34" charset="0"/>
            </a:pPr>
            <a:endParaRPr lang="en-US" sz="1700">
              <a:solidFill>
                <a:schemeClr val="tx1">
                  <a:lumMod val="75000"/>
                  <a:lumOff val="25000"/>
                </a:schemeClr>
              </a:solidFill>
            </a:endParaRPr>
          </a:p>
          <a:p>
            <a:pPr>
              <a:lnSpc>
                <a:spcPct val="90000"/>
              </a:lnSpc>
              <a:spcAft>
                <a:spcPts val="600"/>
              </a:spcAft>
              <a:buFont typeface="Calibri" panose="020F0502020204030204" pitchFamily="34" charset="0"/>
            </a:pPr>
            <a:r>
              <a:rPr lang="en-US" sz="1700" b="1">
                <a:solidFill>
                  <a:schemeClr val="tx1">
                    <a:lumMod val="75000"/>
                    <a:lumOff val="25000"/>
                  </a:schemeClr>
                </a:solidFill>
              </a:rPr>
              <a:t>Why This Works:</a:t>
            </a:r>
            <a:endParaRPr lang="en-US" sz="1700">
              <a:solidFill>
                <a:schemeClr val="tx1">
                  <a:lumMod val="75000"/>
                  <a:lumOff val="25000"/>
                </a:schemeClr>
              </a:solidFill>
            </a:endParaRPr>
          </a:p>
          <a:p>
            <a:pPr>
              <a:lnSpc>
                <a:spcPct val="90000"/>
              </a:lnSpc>
              <a:spcAft>
                <a:spcPts val="600"/>
              </a:spcAft>
              <a:buFont typeface="Calibri" panose="020F0502020204030204" pitchFamily="34" charset="0"/>
            </a:pPr>
            <a:r>
              <a:rPr lang="en-US" sz="1700">
                <a:solidFill>
                  <a:schemeClr val="tx1">
                    <a:lumMod val="75000"/>
                    <a:lumOff val="25000"/>
                  </a:schemeClr>
                </a:solidFill>
              </a:rPr>
              <a:t>The credit project Phase 3 (Analysis) illustrates this integration perfectly. The phase contained four sequential sprints: EDA and method selection, payment delay analysis, age demographics analysis, and credit utilization analysis. Each sprint produced independently valuable insights that could be shared with stakeholders. Yet all four sprints remained bounded by Phase 3's exit gates—no sprint could proceed to implementation without all analytical methods being finalized and approved.</a:t>
            </a:r>
          </a:p>
        </p:txBody>
      </p:sp>
      <p:sp>
        <p:nvSpPr>
          <p:cNvPr id="1043" name="Rectangle 1042">
            <a:extLst>
              <a:ext uri="{FF2B5EF4-FFF2-40B4-BE49-F238E27FC236}">
                <a16:creationId xmlns:a16="http://schemas.microsoft.com/office/drawing/2014/main" id="{C1B60310-C5C3-46A0-A452-2A0B00843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952171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8" name="Rectangle 2077">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079" name="Straight Connector 2078">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2080" name="Rectangle 2079">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81" name="Rectangle 2080">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2082" name="Straight Connector 2081">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571D51BF-B6EF-DFCD-B570-4550D9277819}"/>
              </a:ext>
            </a:extLst>
          </p:cNvPr>
          <p:cNvSpPr txBox="1"/>
          <p:nvPr/>
        </p:nvSpPr>
        <p:spPr>
          <a:xfrm>
            <a:off x="571752" y="2799654"/>
            <a:ext cx="3005462" cy="3189665"/>
          </a:xfrm>
          <a:prstGeom prst="rect">
            <a:avLst/>
          </a:prstGeom>
        </p:spPr>
        <p:txBody>
          <a:bodyPr vert="horz" lIns="0" tIns="45720" rIns="0" bIns="45720" rtlCol="0">
            <a:normAutofit/>
          </a:bodyPr>
          <a:lstStyle/>
          <a:p>
            <a:pPr>
              <a:lnSpc>
                <a:spcPct val="90000"/>
              </a:lnSpc>
              <a:spcAft>
                <a:spcPts val="600"/>
              </a:spcAft>
              <a:buFont typeface="Calibri" panose="020F0502020204030204" pitchFamily="34" charset="0"/>
            </a:pPr>
            <a:r>
              <a:rPr lang="en-US" sz="1100" dirty="0">
                <a:solidFill>
                  <a:srgbClr val="FFFFFF"/>
                </a:solidFill>
              </a:rPr>
              <a:t>Research by </a:t>
            </a:r>
            <a:r>
              <a:rPr lang="en-US" sz="1100" dirty="0" err="1">
                <a:solidFill>
                  <a:srgbClr val="FFFFFF"/>
                </a:solidFill>
              </a:rPr>
              <a:t>Serrador</a:t>
            </a:r>
            <a:r>
              <a:rPr lang="en-US" sz="1100" dirty="0">
                <a:solidFill>
                  <a:srgbClr val="FFFFFF"/>
                </a:solidFill>
              </a:rPr>
              <a:t> &amp; Pinto (2015) analyzed 400+ projects. Hybrid approaches consistently outperformed pure implementations across every metric: schedule adherence (78% vs 65-71%), budget management (82% vs 68-70%), stakeholder satisfaction (85% vs 60-75%), and project quality (88% vs 80-82%).</a:t>
            </a:r>
          </a:p>
          <a:p>
            <a:pPr>
              <a:lnSpc>
                <a:spcPct val="90000"/>
              </a:lnSpc>
              <a:spcAft>
                <a:spcPts val="600"/>
              </a:spcAft>
              <a:buFont typeface="Calibri" panose="020F0502020204030204" pitchFamily="34" charset="0"/>
            </a:pPr>
            <a:r>
              <a:rPr lang="en-US" sz="1100" dirty="0">
                <a:solidFill>
                  <a:srgbClr val="FFFFFF"/>
                </a:solidFill>
              </a:rPr>
              <a:t>Why Hybrid Excels:</a:t>
            </a:r>
          </a:p>
          <a:p>
            <a:pPr>
              <a:lnSpc>
                <a:spcPct val="90000"/>
              </a:lnSpc>
              <a:spcAft>
                <a:spcPts val="600"/>
              </a:spcAft>
              <a:buFont typeface="Calibri" panose="020F0502020204030204" pitchFamily="34" charset="0"/>
            </a:pPr>
            <a:r>
              <a:rPr lang="en-US" sz="1100" dirty="0">
                <a:solidFill>
                  <a:srgbClr val="FFFFFF"/>
                </a:solidFill>
              </a:rPr>
              <a:t>Data projects need both structure AND flexibility. Early uncertainty demands </a:t>
            </a:r>
            <a:r>
              <a:rPr lang="en-US" sz="1100" dirty="0" err="1">
                <a:solidFill>
                  <a:srgbClr val="FFFFFF"/>
                </a:solidFill>
              </a:rPr>
              <a:t>Agile's</a:t>
            </a:r>
            <a:r>
              <a:rPr lang="en-US" sz="1100" dirty="0">
                <a:solidFill>
                  <a:srgbClr val="FFFFFF"/>
                </a:solidFill>
              </a:rPr>
              <a:t> iteration, yet without Waterfall's architectural scaffolding, efforts scatter. Pure approaches alone create problems:</a:t>
            </a:r>
          </a:p>
          <a:p>
            <a:pPr>
              <a:lnSpc>
                <a:spcPct val="90000"/>
              </a:lnSpc>
              <a:spcAft>
                <a:spcPts val="600"/>
              </a:spcAft>
              <a:buFont typeface="Calibri" panose="020F0502020204030204" pitchFamily="34" charset="0"/>
            </a:pPr>
            <a:r>
              <a:rPr lang="en-US" sz="1100" dirty="0">
                <a:solidFill>
                  <a:srgbClr val="FFFFFF"/>
                </a:solidFill>
              </a:rPr>
              <a:t>• Waterfall alone: Too rigid; can't adapt when data patterns differ from expectations</a:t>
            </a:r>
            <a:br>
              <a:rPr lang="en-US" sz="1100" dirty="0">
                <a:solidFill>
                  <a:srgbClr val="FFFFFF"/>
                </a:solidFill>
              </a:rPr>
            </a:br>
            <a:r>
              <a:rPr lang="en-US" sz="1100" dirty="0">
                <a:solidFill>
                  <a:srgbClr val="FFFFFF"/>
                </a:solidFill>
              </a:rPr>
              <a:t>• Agile alone: Too scattered; lacks direction; creates documentation debt</a:t>
            </a:r>
            <a:br>
              <a:rPr lang="en-US" sz="1100" dirty="0">
                <a:solidFill>
                  <a:srgbClr val="FFFFFF"/>
                </a:solidFill>
              </a:rPr>
            </a:br>
            <a:r>
              <a:rPr lang="en-US" sz="1100" dirty="0">
                <a:solidFill>
                  <a:srgbClr val="FFFFFF"/>
                </a:solidFill>
              </a:rPr>
              <a:t>• Hybrid: Combines phase gates (strategic focus) with sprint cycles (rapid feedback)</a:t>
            </a:r>
          </a:p>
          <a:p>
            <a:pPr>
              <a:lnSpc>
                <a:spcPct val="90000"/>
              </a:lnSpc>
              <a:spcAft>
                <a:spcPts val="600"/>
              </a:spcAft>
              <a:buFont typeface="Calibri" panose="020F0502020204030204" pitchFamily="34" charset="0"/>
            </a:pPr>
            <a:endParaRPr lang="en-US" sz="1100" dirty="0">
              <a:solidFill>
                <a:srgbClr val="FFFFFF"/>
              </a:solidFill>
            </a:endParaRPr>
          </a:p>
        </p:txBody>
      </p:sp>
      <p:pic>
        <p:nvPicPr>
          <p:cNvPr id="2050" name="Picture 2" descr="Image">
            <a:extLst>
              <a:ext uri="{FF2B5EF4-FFF2-40B4-BE49-F238E27FC236}">
                <a16:creationId xmlns:a16="http://schemas.microsoft.com/office/drawing/2014/main" id="{B5090F21-F7F1-C2CB-F437-CEEAB7C50D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89" t="2500" r="3148" b="22083"/>
          <a:stretch>
            <a:fillRect/>
          </a:stretch>
        </p:blipFill>
        <p:spPr bwMode="auto">
          <a:xfrm>
            <a:off x="4059935" y="1483742"/>
            <a:ext cx="8126380" cy="4650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9321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7" name="Rectangle 3106">
            <a:extLst>
              <a:ext uri="{FF2B5EF4-FFF2-40B4-BE49-F238E27FC236}">
                <a16:creationId xmlns:a16="http://schemas.microsoft.com/office/drawing/2014/main" id="{41497DE5-0939-4D1D-9350-0C5E1B209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Rectangle 3107">
            <a:extLst>
              <a:ext uri="{FF2B5EF4-FFF2-40B4-BE49-F238E27FC236}">
                <a16:creationId xmlns:a16="http://schemas.microsoft.com/office/drawing/2014/main" id="{5CCC70ED-6C63-4537-B7EB-51990D6C0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24" y="457200"/>
            <a:ext cx="11274552"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6" name="Rectangle 3105">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A screenshot of a computer screen&#10;&#10;AI-generated content may be incorrect.">
            <a:extLst>
              <a:ext uri="{FF2B5EF4-FFF2-40B4-BE49-F238E27FC236}">
                <a16:creationId xmlns:a16="http://schemas.microsoft.com/office/drawing/2014/main" id="{A09D1550-DD26-A3EE-EA2E-3B97C76B39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37" t="7576" r="3889" b="7576"/>
          <a:stretch>
            <a:fillRect/>
          </a:stretch>
        </p:blipFill>
        <p:spPr bwMode="auto">
          <a:xfrm>
            <a:off x="1653612" y="905933"/>
            <a:ext cx="8916779" cy="5039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009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7" name="Rectangle 4106">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4109" name="Straight Connector 4108">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4111" name="Rectangle 4110">
            <a:extLst>
              <a:ext uri="{FF2B5EF4-FFF2-40B4-BE49-F238E27FC236}">
                <a16:creationId xmlns:a16="http://schemas.microsoft.com/office/drawing/2014/main" id="{44A37DD3-1B84-4776-94E1-C0AAA5C0F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0B4FB531-34DA-4777-9BD5-5B885DC38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15076"/>
            <a:ext cx="12188952" cy="1942924"/>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Box 1">
            <a:extLst>
              <a:ext uri="{FF2B5EF4-FFF2-40B4-BE49-F238E27FC236}">
                <a16:creationId xmlns:a16="http://schemas.microsoft.com/office/drawing/2014/main" id="{2C563B02-89A2-2BFB-C948-7C85F8BE2EC5}"/>
              </a:ext>
            </a:extLst>
          </p:cNvPr>
          <p:cNvSpPr txBox="1"/>
          <p:nvPr/>
        </p:nvSpPr>
        <p:spPr>
          <a:xfrm>
            <a:off x="828675" y="5120639"/>
            <a:ext cx="7137263" cy="1280161"/>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4100" b="1" spc="-50" dirty="0">
                <a:solidFill>
                  <a:srgbClr val="FFFFFF"/>
                </a:solidFill>
                <a:latin typeface="+mj-lt"/>
                <a:ea typeface="+mj-ea"/>
                <a:cs typeface="+mj-cs"/>
              </a:rPr>
              <a:t>Credit Score Analysis: Key Findings</a:t>
            </a:r>
          </a:p>
        </p:txBody>
      </p:sp>
      <p:pic>
        <p:nvPicPr>
          <p:cNvPr id="4098" name="Picture 2">
            <a:extLst>
              <a:ext uri="{FF2B5EF4-FFF2-40B4-BE49-F238E27FC236}">
                <a16:creationId xmlns:a16="http://schemas.microsoft.com/office/drawing/2014/main" id="{B0616E7B-13D3-EAA1-12A3-32CDDA6767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72" t="10677" r="6287" b="14062"/>
          <a:stretch>
            <a:fillRect/>
          </a:stretch>
        </p:blipFill>
        <p:spPr bwMode="auto">
          <a:xfrm>
            <a:off x="643467" y="671812"/>
            <a:ext cx="7161971" cy="356950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D25F1FF4-4839-1B40-33A3-1E809384B7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317" t="9099" r="15084" b="10720"/>
          <a:stretch>
            <a:fillRect/>
          </a:stretch>
        </p:blipFill>
        <p:spPr bwMode="auto">
          <a:xfrm>
            <a:off x="8441140" y="643467"/>
            <a:ext cx="2851786" cy="3626191"/>
          </a:xfrm>
          <a:prstGeom prst="rect">
            <a:avLst/>
          </a:prstGeom>
          <a:noFill/>
          <a:extLst>
            <a:ext uri="{909E8E84-426E-40DD-AFC4-6F175D3DCCD1}">
              <a14:hiddenFill xmlns:a14="http://schemas.microsoft.com/office/drawing/2010/main">
                <a:solidFill>
                  <a:srgbClr val="FFFFFF"/>
                </a:solidFill>
              </a14:hiddenFill>
            </a:ext>
          </a:extLst>
        </p:spPr>
      </p:pic>
      <p:cxnSp>
        <p:nvCxnSpPr>
          <p:cNvPr id="4115" name="Straight Connector 4114">
            <a:extLst>
              <a:ext uri="{FF2B5EF4-FFF2-40B4-BE49-F238E27FC236}">
                <a16:creationId xmlns:a16="http://schemas.microsoft.com/office/drawing/2014/main" id="{D5B557D3-D7B4-404B-84A1-9BD182BE5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258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CA3BEC-6FF5-513D-F9AA-CAA7DD18A53E}"/>
            </a:ext>
          </a:extLst>
        </p:cNvPr>
        <p:cNvGrpSpPr/>
        <p:nvPr/>
      </p:nvGrpSpPr>
      <p:grpSpPr>
        <a:xfrm>
          <a:off x="0" y="0"/>
          <a:ext cx="0" cy="0"/>
          <a:chOff x="0" y="0"/>
          <a:chExt cx="0" cy="0"/>
        </a:xfrm>
      </p:grpSpPr>
      <p:sp>
        <p:nvSpPr>
          <p:cNvPr id="4107" name="Rectangle 4106">
            <a:extLst>
              <a:ext uri="{FF2B5EF4-FFF2-40B4-BE49-F238E27FC236}">
                <a16:creationId xmlns:a16="http://schemas.microsoft.com/office/drawing/2014/main" id="{E78ECF9D-F83F-71EE-2CB6-A7269ABDF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4109" name="Straight Connector 4108">
            <a:extLst>
              <a:ext uri="{FF2B5EF4-FFF2-40B4-BE49-F238E27FC236}">
                <a16:creationId xmlns:a16="http://schemas.microsoft.com/office/drawing/2014/main" id="{3FD8A5DA-7106-28A8-77E1-27120D7B5B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4111" name="Rectangle 4110">
            <a:extLst>
              <a:ext uri="{FF2B5EF4-FFF2-40B4-BE49-F238E27FC236}">
                <a16:creationId xmlns:a16="http://schemas.microsoft.com/office/drawing/2014/main" id="{A09DB6E0-F222-BE08-76FC-59DF596B6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B901F4BF-56FE-FCE1-4421-0120224DF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15076"/>
            <a:ext cx="12188952" cy="1942924"/>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Box 1">
            <a:extLst>
              <a:ext uri="{FF2B5EF4-FFF2-40B4-BE49-F238E27FC236}">
                <a16:creationId xmlns:a16="http://schemas.microsoft.com/office/drawing/2014/main" id="{75E6CA62-3BBA-8D32-FF1B-A24AD75EC3A4}"/>
              </a:ext>
            </a:extLst>
          </p:cNvPr>
          <p:cNvSpPr txBox="1"/>
          <p:nvPr/>
        </p:nvSpPr>
        <p:spPr>
          <a:xfrm>
            <a:off x="828675" y="5120639"/>
            <a:ext cx="7137263" cy="1280161"/>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4100" b="1" spc="-50" dirty="0">
                <a:solidFill>
                  <a:srgbClr val="FFFFFF"/>
                </a:solidFill>
                <a:latin typeface="+mj-lt"/>
                <a:ea typeface="+mj-ea"/>
                <a:cs typeface="+mj-cs"/>
              </a:rPr>
              <a:t>Credit Score Analysis: Key Findings</a:t>
            </a:r>
          </a:p>
        </p:txBody>
      </p:sp>
      <p:cxnSp>
        <p:nvCxnSpPr>
          <p:cNvPr id="4115" name="Straight Connector 4114">
            <a:extLst>
              <a:ext uri="{FF2B5EF4-FFF2-40B4-BE49-F238E27FC236}">
                <a16:creationId xmlns:a16="http://schemas.microsoft.com/office/drawing/2014/main" id="{75790210-37EC-96CD-8D70-236AD65EA5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122" name="Picture 2">
            <a:extLst>
              <a:ext uri="{FF2B5EF4-FFF2-40B4-BE49-F238E27FC236}">
                <a16:creationId xmlns:a16="http://schemas.microsoft.com/office/drawing/2014/main" id="{5E74FF49-801C-6781-40A2-1C30BF12D1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78" t="8081" r="3125" b="14646"/>
          <a:stretch>
            <a:fillRect/>
          </a:stretch>
        </p:blipFill>
        <p:spPr bwMode="auto">
          <a:xfrm>
            <a:off x="338607" y="322937"/>
            <a:ext cx="5422060" cy="393163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FF8DCC98-B63B-24FF-9561-6B7FCFEA9F1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316" t="10000" r="5506" b="8594"/>
          <a:stretch>
            <a:fillRect/>
          </a:stretch>
        </p:blipFill>
        <p:spPr bwMode="auto">
          <a:xfrm>
            <a:off x="6096000" y="417477"/>
            <a:ext cx="4937982" cy="3382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930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6153" name="Straight Connector 615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6155" name="Rectangle 6154">
            <a:extLst>
              <a:ext uri="{FF2B5EF4-FFF2-40B4-BE49-F238E27FC236}">
                <a16:creationId xmlns:a16="http://schemas.microsoft.com/office/drawing/2014/main" id="{B4D0E555-16F6-44D0-BF56-AF5FF5BDE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8117041D-1A7B-4ECA-AB68-3CFDB6726B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4"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extBox 1">
            <a:extLst>
              <a:ext uri="{FF2B5EF4-FFF2-40B4-BE49-F238E27FC236}">
                <a16:creationId xmlns:a16="http://schemas.microsoft.com/office/drawing/2014/main" id="{B5AA983A-C2E4-FC46-3A17-49DB6EE3B981}"/>
              </a:ext>
            </a:extLst>
          </p:cNvPr>
          <p:cNvSpPr txBox="1"/>
          <p:nvPr/>
        </p:nvSpPr>
        <p:spPr>
          <a:xfrm>
            <a:off x="435869" y="640080"/>
            <a:ext cx="3659246" cy="286269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spc="-50" dirty="0">
                <a:solidFill>
                  <a:srgbClr val="FFFFFF"/>
                </a:solidFill>
                <a:latin typeface="+mj-lt"/>
                <a:ea typeface="+mj-ea"/>
                <a:cs typeface="+mj-cs"/>
              </a:rPr>
              <a:t>Recommendations for Organizations</a:t>
            </a:r>
          </a:p>
        </p:txBody>
      </p:sp>
      <p:cxnSp>
        <p:nvCxnSpPr>
          <p:cNvPr id="6159" name="Straight Connector 6158">
            <a:extLst>
              <a:ext uri="{FF2B5EF4-FFF2-40B4-BE49-F238E27FC236}">
                <a16:creationId xmlns:a16="http://schemas.microsoft.com/office/drawing/2014/main" id="{ABCD2462-4C1E-401A-AC2D-F799A138B24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852" y="3663649"/>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147F04BB-C78F-8772-BC9C-B75E7C4F20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19" t="15418" r="3339" b="9305"/>
          <a:stretch>
            <a:fillRect/>
          </a:stretch>
        </p:blipFill>
        <p:spPr bwMode="auto">
          <a:xfrm>
            <a:off x="4953001" y="1248735"/>
            <a:ext cx="6605002" cy="4589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08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3BCCAE5-A35B-4B66-A4A7-E23C34A403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C6F7C0-AAB1-5F0E-E439-12AB96F93F40}"/>
              </a:ext>
            </a:extLst>
          </p:cNvPr>
          <p:cNvSpPr>
            <a:spLocks noGrp="1"/>
          </p:cNvSpPr>
          <p:nvPr>
            <p:ph type="title"/>
          </p:nvPr>
        </p:nvSpPr>
        <p:spPr>
          <a:xfrm>
            <a:off x="1036320" y="286603"/>
            <a:ext cx="10058400" cy="1450757"/>
          </a:xfrm>
        </p:spPr>
        <p:txBody>
          <a:bodyPr>
            <a:normAutofit/>
          </a:bodyPr>
          <a:lstStyle/>
          <a:p>
            <a:r>
              <a:rPr lang="en-IN"/>
              <a:t>Limitations and Future Directions</a:t>
            </a:r>
            <a:endParaRPr lang="en-IN" dirty="0"/>
          </a:p>
        </p:txBody>
      </p:sp>
      <p:cxnSp>
        <p:nvCxnSpPr>
          <p:cNvPr id="12" name="Straight Connector 11">
            <a:extLst>
              <a:ext uri="{FF2B5EF4-FFF2-40B4-BE49-F238E27FC236}">
                <a16:creationId xmlns:a16="http://schemas.microsoft.com/office/drawing/2014/main" id="{6987BDFB-DE64-4B56-B44F-45FAE19FA9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6573" y="1895846"/>
            <a:ext cx="978408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Warning">
            <a:extLst>
              <a:ext uri="{FF2B5EF4-FFF2-40B4-BE49-F238E27FC236}">
                <a16:creationId xmlns:a16="http://schemas.microsoft.com/office/drawing/2014/main" id="{93423C3C-62FE-97EE-80F1-D621D6BB07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1509" y="2472903"/>
            <a:ext cx="3031484" cy="3031484"/>
          </a:xfrm>
          <a:prstGeom prst="rect">
            <a:avLst/>
          </a:prstGeom>
        </p:spPr>
      </p:pic>
      <p:sp>
        <p:nvSpPr>
          <p:cNvPr id="3" name="Content Placeholder 2">
            <a:extLst>
              <a:ext uri="{FF2B5EF4-FFF2-40B4-BE49-F238E27FC236}">
                <a16:creationId xmlns:a16="http://schemas.microsoft.com/office/drawing/2014/main" id="{F219E8E5-178E-0FAC-6B8E-1A7AC3F1E112}"/>
              </a:ext>
            </a:extLst>
          </p:cNvPr>
          <p:cNvSpPr>
            <a:spLocks noGrp="1"/>
          </p:cNvSpPr>
          <p:nvPr>
            <p:ph idx="1"/>
          </p:nvPr>
        </p:nvSpPr>
        <p:spPr>
          <a:xfrm>
            <a:off x="4706460" y="2108201"/>
            <a:ext cx="6388260" cy="3760891"/>
          </a:xfrm>
        </p:spPr>
        <p:txBody>
          <a:bodyPr>
            <a:normAutofit/>
          </a:bodyPr>
          <a:lstStyle/>
          <a:p>
            <a:pPr>
              <a:lnSpc>
                <a:spcPct val="90000"/>
              </a:lnSpc>
            </a:pPr>
            <a:r>
              <a:rPr lang="en-US" sz="1300" dirty="0"/>
              <a:t>Key Limitations:</a:t>
            </a:r>
          </a:p>
          <a:p>
            <a:pPr>
              <a:lnSpc>
                <a:spcPct val="90000"/>
              </a:lnSpc>
            </a:pPr>
            <a:r>
              <a:rPr lang="en-US" sz="1300" dirty="0"/>
              <a:t>• Correlational, Not Causal: Analysis shows associations, not causation. Payment delays correlate with poor scores, but causal mechanisms aren't definitively established.</a:t>
            </a:r>
            <a:br>
              <a:rPr lang="en-US" sz="1300" dirty="0"/>
            </a:br>
            <a:r>
              <a:rPr lang="en-US" sz="1300" dirty="0"/>
              <a:t>• Model Interpretability: Random Forest provides strong accuracy but limited transparency. Simpler models sacrifice accuracy for interpretability.</a:t>
            </a:r>
            <a:br>
              <a:rPr lang="en-US" sz="1300" dirty="0"/>
            </a:br>
            <a:r>
              <a:rPr lang="en-US" sz="1300" dirty="0"/>
              <a:t>• Statistical Assumptions Violated: ANOVA analyses violated normality assumptions (Shapiro-Wilk p&lt;0.001). Large sample size provides robustness, but violations merit acknowledgment.</a:t>
            </a:r>
            <a:br>
              <a:rPr lang="en-US" sz="1300" dirty="0"/>
            </a:br>
            <a:r>
              <a:rPr lang="en-US" sz="1300" dirty="0"/>
              <a:t>• Missing Variables: No debt-to-income ratios, employment stability, bankruptcy history. Model accuracy plateaus at 72.8% due to missing explanatory factors.</a:t>
            </a:r>
            <a:br>
              <a:rPr lang="en-US" sz="1300" dirty="0"/>
            </a:br>
            <a:r>
              <a:rPr lang="en-US" sz="1300" dirty="0"/>
              <a:t>• Potential Bias: Dataset composition may not represent complete borrower population</a:t>
            </a:r>
            <a:r>
              <a:rPr lang="en-IN" sz="1300" dirty="0"/>
              <a:t>.</a:t>
            </a:r>
          </a:p>
          <a:p>
            <a:pPr>
              <a:lnSpc>
                <a:spcPct val="90000"/>
              </a:lnSpc>
            </a:pPr>
            <a:r>
              <a:rPr lang="en-US" sz="1300" dirty="0"/>
              <a:t>Future Research Directions:</a:t>
            </a:r>
          </a:p>
          <a:p>
            <a:pPr>
              <a:lnSpc>
                <a:spcPct val="90000"/>
              </a:lnSpc>
            </a:pPr>
            <a:r>
              <a:rPr lang="en-US" sz="1300" dirty="0"/>
              <a:t>• Fairness auditing—do scores discriminate across demographics?</a:t>
            </a:r>
            <a:br>
              <a:rPr lang="en-US" sz="1300" dirty="0"/>
            </a:br>
            <a:r>
              <a:rPr lang="en-US" sz="1300" dirty="0"/>
              <a:t>• Real-time behavioral integration—enhance scoring with spending behavior.</a:t>
            </a:r>
            <a:br>
              <a:rPr lang="en-US" sz="1300" dirty="0"/>
            </a:br>
            <a:r>
              <a:rPr lang="en-US" sz="1300" dirty="0"/>
              <a:t>• Macroeconomic effects—how do rates, inflation, cycles affect credit?</a:t>
            </a:r>
            <a:br>
              <a:rPr lang="en-US" sz="1300" dirty="0"/>
            </a:br>
            <a:r>
              <a:rPr lang="en-US" sz="1300" dirty="0"/>
              <a:t>• Explainability improvements—SHAP values for per-prediction transparency.</a:t>
            </a:r>
            <a:br>
              <a:rPr lang="en-US" sz="1300" dirty="0"/>
            </a:br>
            <a:r>
              <a:rPr lang="en-US" sz="1300" dirty="0"/>
              <a:t>• Variable expansion—employment history, income trends, alternative data.</a:t>
            </a:r>
            <a:br>
              <a:rPr lang="en-US" sz="1300" dirty="0"/>
            </a:br>
            <a:r>
              <a:rPr lang="en-US" sz="1300" dirty="0"/>
              <a:t>• Temporal analysis—credit pattern evolution over time.</a:t>
            </a:r>
          </a:p>
        </p:txBody>
      </p:sp>
      <p:sp>
        <p:nvSpPr>
          <p:cNvPr id="14" name="Rectangle 13">
            <a:extLst>
              <a:ext uri="{FF2B5EF4-FFF2-40B4-BE49-F238E27FC236}">
                <a16:creationId xmlns:a16="http://schemas.microsoft.com/office/drawing/2014/main" id="{0B2EDFE5-9478-4774-9D3D-FEC7DC708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91553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81" name="Rectangle 7180">
            <a:extLst>
              <a:ext uri="{FF2B5EF4-FFF2-40B4-BE49-F238E27FC236}">
                <a16:creationId xmlns:a16="http://schemas.microsoft.com/office/drawing/2014/main" id="{416A0E3C-60E6-4F39-BC55-5F7C224E1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7183" name="Straight Connector 7182">
            <a:extLst>
              <a:ext uri="{FF2B5EF4-FFF2-40B4-BE49-F238E27FC236}">
                <a16:creationId xmlns:a16="http://schemas.microsoft.com/office/drawing/2014/main" id="{C5025DAC-8B93-4160-B017-3A274A5828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185" name="Rectangle 7184">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solidFill>
            <a:schemeClr val="tx1"/>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7187" name="Rectangle 7186">
            <a:extLst>
              <a:ext uri="{FF2B5EF4-FFF2-40B4-BE49-F238E27FC236}">
                <a16:creationId xmlns:a16="http://schemas.microsoft.com/office/drawing/2014/main" id="{95B38FD6-641F-41BF-B466-C1C636642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74" y="1238442"/>
            <a:ext cx="3635926" cy="4355751"/>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B46BD0-8C2D-EFE5-A330-A371B44773B6}"/>
              </a:ext>
            </a:extLst>
          </p:cNvPr>
          <p:cNvSpPr>
            <a:spLocks noGrp="1"/>
          </p:cNvSpPr>
          <p:nvPr>
            <p:ph type="title" idx="4294967295"/>
          </p:nvPr>
        </p:nvSpPr>
        <p:spPr>
          <a:xfrm>
            <a:off x="948648" y="1419273"/>
            <a:ext cx="3153580" cy="1358188"/>
          </a:xfrm>
        </p:spPr>
        <p:txBody>
          <a:bodyPr vert="horz" lIns="91440" tIns="45720" rIns="91440" bIns="45720" rtlCol="0" anchor="b">
            <a:normAutofit/>
          </a:bodyPr>
          <a:lstStyle/>
          <a:p>
            <a:r>
              <a:rPr lang="en-US" sz="3100" b="1">
                <a:solidFill>
                  <a:schemeClr val="tx1"/>
                </a:solidFill>
              </a:rPr>
              <a:t>Conclusion: Hybrid Approaches Win</a:t>
            </a:r>
          </a:p>
        </p:txBody>
      </p:sp>
      <p:cxnSp>
        <p:nvCxnSpPr>
          <p:cNvPr id="7189" name="Straight Connector 7188">
            <a:extLst>
              <a:ext uri="{FF2B5EF4-FFF2-40B4-BE49-F238E27FC236}">
                <a16:creationId xmlns:a16="http://schemas.microsoft.com/office/drawing/2014/main" id="{6BF9119E-766E-4526-AAE5-639F577C04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128" y="2865016"/>
            <a:ext cx="29260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6632278-A081-7DA2-D554-08D569ACB47E}"/>
              </a:ext>
            </a:extLst>
          </p:cNvPr>
          <p:cNvSpPr txBox="1"/>
          <p:nvPr/>
        </p:nvSpPr>
        <p:spPr>
          <a:xfrm>
            <a:off x="948648" y="2978254"/>
            <a:ext cx="3153580" cy="2444238"/>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sz="1600"/>
              <a:t>Managing complex data analysis projects requires integrating Waterfall's structural discipline with Agile's adaptive flexibility. Neither methodology alone suffices; integration captures complementary strengths.</a:t>
            </a:r>
          </a:p>
        </p:txBody>
      </p:sp>
      <p:pic>
        <p:nvPicPr>
          <p:cNvPr id="7176" name="Picture 8">
            <a:extLst>
              <a:ext uri="{FF2B5EF4-FFF2-40B4-BE49-F238E27FC236}">
                <a16:creationId xmlns:a16="http://schemas.microsoft.com/office/drawing/2014/main" id="{2969F46E-DA93-5332-47A1-4A239E11EC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64" t="6805" r="4960" b="9027"/>
          <a:stretch>
            <a:fillRect/>
          </a:stretch>
        </p:blipFill>
        <p:spPr bwMode="auto">
          <a:xfrm>
            <a:off x="4584573" y="2256746"/>
            <a:ext cx="6035801" cy="401471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a:extLst>
              <a:ext uri="{FF2B5EF4-FFF2-40B4-BE49-F238E27FC236}">
                <a16:creationId xmlns:a16="http://schemas.microsoft.com/office/drawing/2014/main" id="{B7D64C0B-7882-B959-A3A1-47A93901F3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36" t="20693" r="10701" b="14475"/>
          <a:stretch>
            <a:fillRect/>
          </a:stretch>
        </p:blipFill>
        <p:spPr bwMode="auto">
          <a:xfrm>
            <a:off x="5045189" y="59518"/>
            <a:ext cx="5288829" cy="2159176"/>
          </a:xfrm>
          <a:prstGeom prst="rect">
            <a:avLst/>
          </a:prstGeom>
          <a:noFill/>
          <a:extLst>
            <a:ext uri="{909E8E84-426E-40DD-AFC4-6F175D3DCCD1}">
              <a14:hiddenFill xmlns:a14="http://schemas.microsoft.com/office/drawing/2010/main">
                <a:solidFill>
                  <a:srgbClr val="FFFFFF"/>
                </a:solidFill>
              </a14:hiddenFill>
            </a:ext>
          </a:extLst>
        </p:spPr>
      </p:pic>
      <p:sp>
        <p:nvSpPr>
          <p:cNvPr id="7191" name="Rectangle 7190">
            <a:extLst>
              <a:ext uri="{FF2B5EF4-FFF2-40B4-BE49-F238E27FC236}">
                <a16:creationId xmlns:a16="http://schemas.microsoft.com/office/drawing/2014/main" id="{7363FFA6-C551-4935-A474-8B2482E55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278950414"/>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B3AF4AE-C162-DE95-CA16-EFC534C7E78E}"/>
              </a:ext>
            </a:extLst>
          </p:cNvPr>
          <p:cNvSpPr>
            <a:spLocks noGrp="1"/>
          </p:cNvSpPr>
          <p:nvPr>
            <p:ph type="title"/>
          </p:nvPr>
        </p:nvSpPr>
        <p:spPr>
          <a:xfrm>
            <a:off x="1078353" y="685812"/>
            <a:ext cx="6255026" cy="5054008"/>
          </a:xfrm>
        </p:spPr>
        <p:txBody>
          <a:bodyPr vert="horz" lIns="91440" tIns="45720" rIns="91440" bIns="45720" rtlCol="0" anchor="ctr">
            <a:normAutofit/>
          </a:bodyPr>
          <a:lstStyle/>
          <a:p>
            <a:pPr algn="r"/>
            <a:r>
              <a:rPr lang="en-US" dirty="0"/>
              <a:t>Thank you</a:t>
            </a:r>
          </a:p>
        </p:txBody>
      </p:sp>
      <p:sp>
        <p:nvSpPr>
          <p:cNvPr id="5" name="Text Placeholder 4">
            <a:extLst>
              <a:ext uri="{FF2B5EF4-FFF2-40B4-BE49-F238E27FC236}">
                <a16:creationId xmlns:a16="http://schemas.microsoft.com/office/drawing/2014/main" id="{3CA4B74E-1BD6-32B4-2846-374EDFD12660}"/>
              </a:ext>
            </a:extLst>
          </p:cNvPr>
          <p:cNvSpPr>
            <a:spLocks noGrp="1"/>
          </p:cNvSpPr>
          <p:nvPr>
            <p:ph type="body" idx="1"/>
          </p:nvPr>
        </p:nvSpPr>
        <p:spPr>
          <a:xfrm>
            <a:off x="7870995" y="772731"/>
            <a:ext cx="3341488" cy="5054008"/>
          </a:xfrm>
        </p:spPr>
        <p:txBody>
          <a:bodyPr vert="horz" lIns="91440" tIns="45720" rIns="91440" bIns="45720" rtlCol="0" anchor="ctr">
            <a:normAutofit/>
          </a:bodyPr>
          <a:lstStyle/>
          <a:p>
            <a:r>
              <a:rPr lang="en-US" dirty="0"/>
              <a:t>Presentation By: Dharshan amin</a:t>
            </a:r>
            <a:br>
              <a:rPr lang="en-US" dirty="0"/>
            </a:br>
            <a:r>
              <a:rPr lang="en-US" dirty="0" err="1"/>
              <a:t>netid</a:t>
            </a:r>
            <a:r>
              <a:rPr lang="en-US" dirty="0"/>
              <a:t>: dhamin2</a:t>
            </a:r>
          </a:p>
        </p:txBody>
      </p:sp>
      <p:cxnSp>
        <p:nvCxnSpPr>
          <p:cNvPr id="16" name="Straight Connector 15">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520631"/>
            <a:ext cx="0" cy="3558208"/>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D60EC1B-554F-47EF-839A-BAAD858F6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349532193"/>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7EAB334-58E2-4289-8CCD-CA6FCB0A39EE}">
  <we:reference id="WA200005566" version="3.0.0.3" store="Omex"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244</TotalTime>
  <Words>1164</Words>
  <Application>Microsoft Office PowerPoint</Application>
  <PresentationFormat>Widescreen</PresentationFormat>
  <Paragraphs>100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Calibri</vt:lpstr>
      <vt:lpstr>Calibri Light</vt:lpstr>
      <vt:lpstr>RetrospectVTI</vt:lpstr>
      <vt:lpstr>Two-Level Hybrid Frameworks: Optimizing Project Management for Data-Driven Analytics</vt:lpstr>
      <vt:lpstr>The Challenge: Managing Data Analysis Projects</vt:lpstr>
      <vt:lpstr>The Thesis: Integration Over Binary Choice</vt:lpstr>
      <vt:lpstr>Waterfall Architecture: Seven Phases</vt:lpstr>
      <vt:lpstr>Agile at the Tactical Level: Minimum Units of Work</vt:lpstr>
      <vt:lpstr>Agile Execution: Sprint Ceremonies Within Phases</vt:lpstr>
      <vt:lpstr>PowerPoint Presentation</vt:lpstr>
      <vt:lpstr>PowerPoint Presentation</vt:lpstr>
      <vt:lpstr>PowerPoint Presentation</vt:lpstr>
      <vt:lpstr>PowerPoint Presentation</vt:lpstr>
      <vt:lpstr>PowerPoint Presentation</vt:lpstr>
      <vt:lpstr>PowerPoint Presentation</vt:lpstr>
      <vt:lpstr>Limitations and Future Directions</vt:lpstr>
      <vt:lpstr>Conclusion: Hybrid Approaches Win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 Dharshan</dc:creator>
  <cp:lastModifiedBy>Amin, Dharshan</cp:lastModifiedBy>
  <cp:revision>3</cp:revision>
  <dcterms:created xsi:type="dcterms:W3CDTF">2025-12-16T10:34:41Z</dcterms:created>
  <dcterms:modified xsi:type="dcterms:W3CDTF">2025-12-16T19:42:08Z</dcterms:modified>
</cp:coreProperties>
</file>